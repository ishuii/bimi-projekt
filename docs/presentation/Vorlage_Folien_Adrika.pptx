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5"/>
    <p:sldMasterId id="2147483668" r:id="rId6"/>
  </p:sldMasterIdLst>
  <p:notesMasterIdLst>
    <p:notesMasterId r:id="rId21"/>
  </p:notesMasterIdLst>
  <p:sldIdLst>
    <p:sldId id="256" r:id="rId7"/>
    <p:sldId id="289" r:id="rId8"/>
    <p:sldId id="293" r:id="rId9"/>
    <p:sldId id="296" r:id="rId10"/>
    <p:sldId id="295" r:id="rId11"/>
    <p:sldId id="287" r:id="rId12"/>
    <p:sldId id="297" r:id="rId13"/>
    <p:sldId id="291" r:id="rId14"/>
    <p:sldId id="290" r:id="rId15"/>
    <p:sldId id="299" r:id="rId16"/>
    <p:sldId id="294" r:id="rId17"/>
    <p:sldId id="285" r:id="rId18"/>
    <p:sldId id="301" r:id="rId19"/>
    <p:sldId id="298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ktoria Cholewa" initials="WC" lastIdx="2" clrIdx="0">
    <p:extLst>
      <p:ext uri="{19B8F6BF-5375-455C-9EA6-DF929625EA0E}">
        <p15:presenceInfo xmlns:p15="http://schemas.microsoft.com/office/powerpoint/2012/main" userId="a7e065584b631d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C28"/>
    <a:srgbClr val="0008FF"/>
    <a:srgbClr val="FFFFFF"/>
    <a:srgbClr val="B28015"/>
    <a:srgbClr val="D7D700"/>
    <a:srgbClr val="575756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29" autoAdjust="0"/>
    <p:restoredTop sz="85369"/>
  </p:normalViewPr>
  <p:slideViewPr>
    <p:cSldViewPr snapToGrid="0" showGuides="1">
      <p:cViewPr>
        <p:scale>
          <a:sx n="140" d="100"/>
          <a:sy n="140" d="100"/>
        </p:scale>
        <p:origin x="968" y="6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9E342-F6A9-4F29-9B27-B9C233E73F2C}" type="datetimeFigureOut">
              <a:rPr lang="de-DE" smtClean="0"/>
              <a:t>16.07.26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CFAF-25DC-4335-BB6F-0DF8AAA92CE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5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09E3C423-5E7A-4DDD-B38B-F27554E0DE8A}" type="datetime1">
              <a:rPr lang="de-DE" smtClean="0"/>
              <a:t>16.07.26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452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36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6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24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367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59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>
          <a:xfrm>
            <a:off x="393699" y="6627813"/>
            <a:ext cx="239185" cy="2079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0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 dirty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851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62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01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B21705E7-C58B-41C1-85E5-D48DB982E5E7}" type="datetime1">
              <a:rPr lang="de-DE" smtClean="0"/>
              <a:t>16.07.26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7122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6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5798B34-4A25-40A0-900B-1450FBA63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8" b="7798"/>
          <a:stretch/>
        </p:blipFill>
        <p:spPr>
          <a:xfrm>
            <a:off x="4175" y="0"/>
            <a:ext cx="12187825" cy="6858000"/>
          </a:xfrm>
          <a:prstGeom prst="rect">
            <a:avLst/>
          </a:prstGeom>
        </p:spPr>
      </p:pic>
      <p:pic>
        <p:nvPicPr>
          <p:cNvPr id="6" name="Grafik 13">
            <a:extLst>
              <a:ext uri="{FF2B5EF4-FFF2-40B4-BE49-F238E27FC236}">
                <a16:creationId xmlns:a16="http://schemas.microsoft.com/office/drawing/2014/main" id="{DDBD8EDB-F6BF-46C2-A48B-112205C0E3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6DA9497-EC4F-483C-BC2B-4763B264BEA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6716" y="720001"/>
            <a:ext cx="2770887" cy="142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1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7222">
          <p15:clr>
            <a:srgbClr val="F26B43"/>
          </p15:clr>
        </p15:guide>
        <p15:guide id="6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8"/>
          <p:cNvSpPr txBox="1">
            <a:spLocks/>
          </p:cNvSpPr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056" name="Textfeld 13"/>
          <p:cNvSpPr txBox="1">
            <a:spLocks noChangeArrowheads="1"/>
          </p:cNvSpPr>
          <p:nvPr userDrawn="1"/>
        </p:nvSpPr>
        <p:spPr bwMode="auto">
          <a:xfrm>
            <a:off x="633413" y="6627813"/>
            <a:ext cx="822483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800" dirty="0"/>
              <a:t> Technische Hochschule Ingolstadt</a:t>
            </a:r>
          </a:p>
        </p:txBody>
      </p:sp>
      <p:pic>
        <p:nvPicPr>
          <p:cNvPr id="9" name="Bild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74C4E33B-49A6-4300-83A6-C76B1520ABA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" y="1584325"/>
            <a:ext cx="288925" cy="4997450"/>
          </a:xfrm>
          <a:custGeom>
            <a:avLst/>
            <a:gdLst>
              <a:gd name="connsiteX0" fmla="*/ 0 w 288925"/>
              <a:gd name="connsiteY0" fmla="*/ 0 h 4997450"/>
              <a:gd name="connsiteX1" fmla="*/ 72124 w 288925"/>
              <a:gd name="connsiteY1" fmla="*/ 0 h 4997450"/>
              <a:gd name="connsiteX2" fmla="*/ 288925 w 288925"/>
              <a:gd name="connsiteY2" fmla="*/ 216575 h 4997450"/>
              <a:gd name="connsiteX3" fmla="*/ 288925 w 288925"/>
              <a:gd name="connsiteY3" fmla="*/ 4961195 h 4997450"/>
              <a:gd name="connsiteX4" fmla="*/ 252632 w 288925"/>
              <a:gd name="connsiteY4" fmla="*/ 4997450 h 4997450"/>
              <a:gd name="connsiteX5" fmla="*/ 0 w 288925"/>
              <a:gd name="connsiteY5" fmla="*/ 4997450 h 4997450"/>
              <a:gd name="connsiteX6" fmla="*/ 0 w 28892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925" h="4997450">
                <a:moveTo>
                  <a:pt x="0" y="0"/>
                </a:moveTo>
                <a:lnTo>
                  <a:pt x="72124" y="0"/>
                </a:lnTo>
                <a:cubicBezTo>
                  <a:pt x="288925" y="0"/>
                  <a:pt x="288925" y="216575"/>
                  <a:pt x="288925" y="216575"/>
                </a:cubicBezTo>
                <a:lnTo>
                  <a:pt x="288925" y="4961195"/>
                </a:lnTo>
                <a:cubicBezTo>
                  <a:pt x="288925" y="4997450"/>
                  <a:pt x="252632" y="4997450"/>
                  <a:pt x="252632" y="4997450"/>
                </a:cubicBezTo>
                <a:lnTo>
                  <a:pt x="0" y="4997450"/>
                </a:lnTo>
                <a:lnTo>
                  <a:pt x="0" y="0"/>
                </a:lnTo>
                <a:close/>
              </a:path>
            </a:pathLst>
          </a:custGeom>
          <a:solidFill>
            <a:srgbClr val="D7D7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B9A292F-0451-4569-B1A0-1D585F68015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438150" cy="6858000"/>
          </a:xfrm>
          <a:custGeom>
            <a:avLst/>
            <a:gdLst>
              <a:gd name="connsiteX0" fmla="*/ 0 w 438150"/>
              <a:gd name="connsiteY0" fmla="*/ 0 h 6858000"/>
              <a:gd name="connsiteX1" fmla="*/ 438150 w 438150"/>
              <a:gd name="connsiteY1" fmla="*/ 0 h 6858000"/>
              <a:gd name="connsiteX2" fmla="*/ 438150 w 438150"/>
              <a:gd name="connsiteY2" fmla="*/ 6858000 h 6858000"/>
              <a:gd name="connsiteX3" fmla="*/ 0 w 438150"/>
              <a:gd name="connsiteY3" fmla="*/ 6858000 h 6858000"/>
              <a:gd name="connsiteX4" fmla="*/ 0 w 438150"/>
              <a:gd name="connsiteY4" fmla="*/ 6581775 h 6858000"/>
              <a:gd name="connsiteX5" fmla="*/ 252632 w 438150"/>
              <a:gd name="connsiteY5" fmla="*/ 6581775 h 6858000"/>
              <a:gd name="connsiteX6" fmla="*/ 288925 w 438150"/>
              <a:gd name="connsiteY6" fmla="*/ 6545520 h 6858000"/>
              <a:gd name="connsiteX7" fmla="*/ 288925 w 438150"/>
              <a:gd name="connsiteY7" fmla="*/ 1800900 h 6858000"/>
              <a:gd name="connsiteX8" fmla="*/ 72124 w 438150"/>
              <a:gd name="connsiteY8" fmla="*/ 1584325 h 6858000"/>
              <a:gd name="connsiteX9" fmla="*/ 0 w 438150"/>
              <a:gd name="connsiteY9" fmla="*/ 1584325 h 6858000"/>
              <a:gd name="connsiteX10" fmla="*/ 0 w 43815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50" h="6858000">
                <a:moveTo>
                  <a:pt x="0" y="0"/>
                </a:moveTo>
                <a:lnTo>
                  <a:pt x="438150" y="0"/>
                </a:lnTo>
                <a:lnTo>
                  <a:pt x="438150" y="6858000"/>
                </a:lnTo>
                <a:lnTo>
                  <a:pt x="0" y="6858000"/>
                </a:lnTo>
                <a:lnTo>
                  <a:pt x="0" y="6581775"/>
                </a:lnTo>
                <a:lnTo>
                  <a:pt x="252632" y="6581775"/>
                </a:lnTo>
                <a:cubicBezTo>
                  <a:pt x="252632" y="6581775"/>
                  <a:pt x="288925" y="6581775"/>
                  <a:pt x="288925" y="6545520"/>
                </a:cubicBezTo>
                <a:lnTo>
                  <a:pt x="288925" y="1800900"/>
                </a:lnTo>
                <a:cubicBezTo>
                  <a:pt x="288925" y="1800900"/>
                  <a:pt x="288925" y="1584325"/>
                  <a:pt x="72124" y="1584325"/>
                </a:cubicBezTo>
                <a:lnTo>
                  <a:pt x="0" y="15843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152EDF18-C2BE-4416-B697-E7527905AE10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1717675" y="1584325"/>
            <a:ext cx="1717675" cy="4997450"/>
          </a:xfrm>
          <a:custGeom>
            <a:avLst/>
            <a:gdLst>
              <a:gd name="connsiteX0" fmla="*/ 36293 w 1717675"/>
              <a:gd name="connsiteY0" fmla="*/ 0 h 4997450"/>
              <a:gd name="connsiteX1" fmla="*/ 1717675 w 1717675"/>
              <a:gd name="connsiteY1" fmla="*/ 0 h 4997450"/>
              <a:gd name="connsiteX2" fmla="*/ 1717675 w 1717675"/>
              <a:gd name="connsiteY2" fmla="*/ 4997450 h 4997450"/>
              <a:gd name="connsiteX3" fmla="*/ 216801 w 1717675"/>
              <a:gd name="connsiteY3" fmla="*/ 4997450 h 4997450"/>
              <a:gd name="connsiteX4" fmla="*/ 0 w 1717675"/>
              <a:gd name="connsiteY4" fmla="*/ 4781829 h 4997450"/>
              <a:gd name="connsiteX5" fmla="*/ 0 w 1717675"/>
              <a:gd name="connsiteY5" fmla="*/ 36255 h 4997450"/>
              <a:gd name="connsiteX6" fmla="*/ 36293 w 171767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7675" h="4997450">
                <a:moveTo>
                  <a:pt x="36293" y="0"/>
                </a:moveTo>
                <a:lnTo>
                  <a:pt x="1717675" y="0"/>
                </a:lnTo>
                <a:lnTo>
                  <a:pt x="1717675" y="4997450"/>
                </a:lnTo>
                <a:lnTo>
                  <a:pt x="216801" y="4997450"/>
                </a:lnTo>
                <a:cubicBezTo>
                  <a:pt x="0" y="4997450"/>
                  <a:pt x="0" y="4781829"/>
                  <a:pt x="0" y="4781829"/>
                </a:cubicBezTo>
                <a:lnTo>
                  <a:pt x="0" y="36255"/>
                </a:lnTo>
                <a:cubicBezTo>
                  <a:pt x="0" y="0"/>
                  <a:pt x="36293" y="0"/>
                  <a:pt x="36293" y="0"/>
                </a:cubicBez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72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86" r:id="rId10"/>
  </p:sldLayoutIdLst>
  <p:hf sldNum="0" hdr="0" ftr="0"/>
  <p:txStyles>
    <p:titleStyle>
      <a:lvl1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8775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19138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79500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439863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 4">
            <a:extLst>
              <a:ext uri="{FF2B5EF4-FFF2-40B4-BE49-F238E27FC236}">
                <a16:creationId xmlns:a16="http://schemas.microsoft.com/office/drawing/2014/main" id="{A2A73B90-07A7-8E8B-CEBC-BEB95963B901}"/>
              </a:ext>
            </a:extLst>
          </p:cNvPr>
          <p:cNvSpPr/>
          <p:nvPr/>
        </p:nvSpPr>
        <p:spPr>
          <a:xfrm>
            <a:off x="6169511" y="0"/>
            <a:ext cx="7828155" cy="6858000"/>
          </a:xfrm>
          <a:prstGeom prst="parallelogram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6657459" y="3640433"/>
            <a:ext cx="5368925" cy="1002918"/>
          </a:xfrm>
        </p:spPr>
        <p:txBody>
          <a:bodyPr>
            <a:normAutofit/>
          </a:bodyPr>
          <a:lstStyle/>
          <a:p>
            <a:r>
              <a:rPr lang="de-DE" dirty="0" err="1"/>
              <a:t>ClusterIt</a:t>
            </a:r>
            <a:r>
              <a:rPr lang="de-DE" dirty="0"/>
              <a:t>!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ED03-C43A-4599-9C3E-0C076A417A3C}" type="datetime1">
              <a:rPr lang="de-DE" smtClean="0"/>
              <a:t>16.07.26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Unsere Namen</a:t>
            </a:r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7C8A103-0E57-DFC5-7677-C86D76011D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ADEA5FB-754A-B192-FBDF-33A5EEB5C5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b="0" dirty="0"/>
              <a:t>Entwicklung der Benutzeroberfläche mit Shiny</a:t>
            </a:r>
          </a:p>
          <a:p>
            <a:r>
              <a:rPr lang="de-DE" b="0" dirty="0"/>
              <a:t>Integration der Backend-Funktionen</a:t>
            </a:r>
          </a:p>
          <a:p>
            <a:r>
              <a:rPr lang="de-DE" b="0" dirty="0"/>
              <a:t>Verschönerung des Layouts</a:t>
            </a:r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1CF2CBD-C9A1-FB54-C44F-01C16708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Wichtige Aufgaben der GUI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BBF561E-C32D-B6B3-CBA4-69B7D497F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Aufgaben</a:t>
            </a:r>
          </a:p>
        </p:txBody>
      </p:sp>
    </p:spTree>
    <p:extLst>
      <p:ext uri="{BB962C8B-B14F-4D97-AF65-F5344CB8AC3E}">
        <p14:creationId xmlns:p14="http://schemas.microsoft.com/office/powerpoint/2010/main" val="84831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A57C-96E4-A458-CC77-1D4D9B0D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E1B0FE4-69C9-D1B6-F36A-23BB2A699B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dirty="0"/>
              <a:t>Entwicklung der Benutzeroberfläche mit Shiny</a:t>
            </a:r>
          </a:p>
          <a:p>
            <a:r>
              <a:rPr lang="de-DE" b="0" dirty="0">
                <a:solidFill>
                  <a:schemeClr val="bg2">
                    <a:lumMod val="50000"/>
                  </a:schemeClr>
                </a:solidFill>
              </a:rPr>
              <a:t>Integration der Backend-Funktionen</a:t>
            </a:r>
          </a:p>
          <a:p>
            <a:r>
              <a:rPr lang="de-DE" b="0" dirty="0">
                <a:solidFill>
                  <a:schemeClr val="bg2">
                    <a:lumMod val="50000"/>
                  </a:schemeClr>
                </a:solidFill>
              </a:rPr>
              <a:t>Verschönerung des Layouts</a:t>
            </a:r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7F33A06-4C85-1498-CEB0-075FC99B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Wichtige Aufgaben der GUI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31789423-2272-8377-F538-381DACE39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Aufgaben</a:t>
            </a:r>
          </a:p>
        </p:txBody>
      </p:sp>
    </p:spTree>
    <p:extLst>
      <p:ext uri="{BB962C8B-B14F-4D97-AF65-F5344CB8AC3E}">
        <p14:creationId xmlns:p14="http://schemas.microsoft.com/office/powerpoint/2010/main" val="180373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2F11B-ABBB-E4E3-FDC9-4FB18D99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1F18208E-FB8A-1162-7631-B0FC6B54F7B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" b="18330"/>
          <a:stretch/>
        </p:blipFill>
        <p:spPr>
          <a:xfrm>
            <a:off x="810446" y="1098863"/>
            <a:ext cx="10571108" cy="535233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954258F-ADE7-73F4-E1DF-9E59A24C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Entwicklung der Benutzeroberfläche mit Shiny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F19CF7-EE82-785B-A743-83539DE23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268081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CBBB-F7D2-6F57-8B3C-909A8A0D2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379891B0-2287-04AE-64D1-D8E23FA3523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" b="18330"/>
          <a:stretch/>
        </p:blipFill>
        <p:spPr>
          <a:xfrm>
            <a:off x="810446" y="1098863"/>
            <a:ext cx="10571108" cy="5352337"/>
          </a:xfrm>
          <a:ln w="3175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6EED019-1A7B-F3C4-0DEA-8D0E3F94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Entwicklung der Benutzeroberfläche mit Shiny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1D7FDB5-738E-9B57-9F4C-99C990D5B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UI</a:t>
            </a:r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10BA636D-4C55-A72E-A5E9-582726BA6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904" y="1277020"/>
            <a:ext cx="6162675" cy="1868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EF2118-1089-AFBB-2BA2-96B94C5CA9C9}"/>
              </a:ext>
            </a:extLst>
          </p:cNvPr>
          <p:cNvCxnSpPr>
            <a:cxnSpLocks/>
          </p:cNvCxnSpPr>
          <p:nvPr/>
        </p:nvCxnSpPr>
        <p:spPr>
          <a:xfrm flipH="1" flipV="1">
            <a:off x="1692765" y="1371600"/>
            <a:ext cx="1216438" cy="226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F7DE9D-658C-667E-E12B-D6B0E1202DF5}"/>
              </a:ext>
            </a:extLst>
          </p:cNvPr>
          <p:cNvCxnSpPr>
            <a:cxnSpLocks/>
          </p:cNvCxnSpPr>
          <p:nvPr/>
        </p:nvCxnSpPr>
        <p:spPr>
          <a:xfrm flipH="1">
            <a:off x="1844842" y="2064042"/>
            <a:ext cx="1064361" cy="2155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-up of a text&#10;&#10;Description automatically generated">
            <a:extLst>
              <a:ext uri="{FF2B5EF4-FFF2-40B4-BE49-F238E27FC236}">
                <a16:creationId xmlns:a16="http://schemas.microsoft.com/office/drawing/2014/main" id="{5DF47D88-5F25-3F82-6D13-C405F3573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0087" b="69441"/>
          <a:stretch/>
        </p:blipFill>
        <p:spPr>
          <a:xfrm>
            <a:off x="9021247" y="5916118"/>
            <a:ext cx="2251906" cy="3936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52D620-3938-0A56-59B9-174E3A13204B}"/>
              </a:ext>
            </a:extLst>
          </p:cNvPr>
          <p:cNvCxnSpPr>
            <a:cxnSpLocks/>
          </p:cNvCxnSpPr>
          <p:nvPr/>
        </p:nvCxnSpPr>
        <p:spPr>
          <a:xfrm flipH="1">
            <a:off x="6997148" y="6202017"/>
            <a:ext cx="2024099" cy="107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74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214BBE46-A158-65A7-B45D-E2BF635735B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" b="18330"/>
          <a:stretch/>
        </p:blipFill>
        <p:spPr>
          <a:xfrm>
            <a:off x="810446" y="1098863"/>
            <a:ext cx="10571108" cy="535233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1B022FD-52E6-6695-FC9E-BD87AD4E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Entwicklung der Benutzeroberfläche mit Shiny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CF9631A-72DA-BA4D-A942-5BFE7842B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UI</a:t>
            </a:r>
          </a:p>
        </p:txBody>
      </p:sp>
      <p:pic>
        <p:nvPicPr>
          <p:cNvPr id="2" name="Picture 1" descr="UI Code">
            <a:extLst>
              <a:ext uri="{FF2B5EF4-FFF2-40B4-BE49-F238E27FC236}">
                <a16:creationId xmlns:a16="http://schemas.microsoft.com/office/drawing/2014/main" id="{6FF939E4-B890-89FA-2A87-ECF33F7D2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5" b="32061"/>
          <a:stretch/>
        </p:blipFill>
        <p:spPr>
          <a:xfrm>
            <a:off x="4960141" y="804702"/>
            <a:ext cx="3079801" cy="3094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C78B9D-7416-4B02-6F0C-500EF503F376}"/>
              </a:ext>
            </a:extLst>
          </p:cNvPr>
          <p:cNvCxnSpPr>
            <a:cxnSpLocks/>
          </p:cNvCxnSpPr>
          <p:nvPr/>
        </p:nvCxnSpPr>
        <p:spPr>
          <a:xfrm flipH="1">
            <a:off x="3578087" y="2534478"/>
            <a:ext cx="17095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66426ED-E0A1-1368-372E-EEBC81F02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1" r="18858" b="31161"/>
          <a:stretch/>
        </p:blipFill>
        <p:spPr>
          <a:xfrm>
            <a:off x="7821203" y="2621022"/>
            <a:ext cx="2981344" cy="3491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E6D685-084A-6226-400B-80FDA908A10E}"/>
              </a:ext>
            </a:extLst>
          </p:cNvPr>
          <p:cNvCxnSpPr>
            <a:cxnSpLocks/>
          </p:cNvCxnSpPr>
          <p:nvPr/>
        </p:nvCxnSpPr>
        <p:spPr>
          <a:xfrm flipH="1" flipV="1">
            <a:off x="3858881" y="3709244"/>
            <a:ext cx="4181061" cy="379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10251B-63FA-EA40-FBF3-6A2654F58685}"/>
              </a:ext>
            </a:extLst>
          </p:cNvPr>
          <p:cNvCxnSpPr>
            <a:cxnSpLocks/>
          </p:cNvCxnSpPr>
          <p:nvPr/>
        </p:nvCxnSpPr>
        <p:spPr>
          <a:xfrm flipH="1" flipV="1">
            <a:off x="3650974" y="4154557"/>
            <a:ext cx="4388968" cy="1431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58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6EF5-E5C8-1F9B-A627-480AACE8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86A01064-1B5E-C964-7A33-14632096575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" b="18330"/>
          <a:stretch/>
        </p:blipFill>
        <p:spPr>
          <a:xfrm>
            <a:off x="810446" y="1098863"/>
            <a:ext cx="10571108" cy="535233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BAB486-E65A-FC7F-2BAF-A72D5FD3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Entwicklung der Benutzeroberfläche mit Shiny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D83EAE5-BC68-E49F-2664-257A642579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53E809-BA1C-62BA-2E39-411FE1687A89}"/>
              </a:ext>
            </a:extLst>
          </p:cNvPr>
          <p:cNvCxnSpPr>
            <a:cxnSpLocks/>
          </p:cNvCxnSpPr>
          <p:nvPr/>
        </p:nvCxnSpPr>
        <p:spPr>
          <a:xfrm flipH="1">
            <a:off x="3432313" y="5337313"/>
            <a:ext cx="707001" cy="894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A07B60-5F0C-D961-72C3-A8177E0BDE06}"/>
              </a:ext>
            </a:extLst>
          </p:cNvPr>
          <p:cNvSpPr txBox="1"/>
          <p:nvPr/>
        </p:nvSpPr>
        <p:spPr>
          <a:xfrm>
            <a:off x="1057655" y="4728033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UI: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ED50F-778A-6177-50AA-B60C082D5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62"/>
          <a:stretch/>
        </p:blipFill>
        <p:spPr>
          <a:xfrm>
            <a:off x="949463" y="5058313"/>
            <a:ext cx="4965700" cy="267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 descr="A close-up of a computer code&#10;&#10;Description automatically generated">
            <a:extLst>
              <a:ext uri="{FF2B5EF4-FFF2-40B4-BE49-F238E27FC236}">
                <a16:creationId xmlns:a16="http://schemas.microsoft.com/office/drawing/2014/main" id="{99D1811A-AC6D-32B6-7A74-86504BA62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163" y="5634611"/>
            <a:ext cx="5448300" cy="825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4F0326-65CF-EAC2-4686-F831C7456142}"/>
              </a:ext>
            </a:extLst>
          </p:cNvPr>
          <p:cNvSpPr txBox="1"/>
          <p:nvPr/>
        </p:nvSpPr>
        <p:spPr>
          <a:xfrm>
            <a:off x="4986704" y="573519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Server:</a:t>
            </a:r>
          </a:p>
        </p:txBody>
      </p:sp>
    </p:spTree>
    <p:extLst>
      <p:ext uri="{BB962C8B-B14F-4D97-AF65-F5344CB8AC3E}">
        <p14:creationId xmlns:p14="http://schemas.microsoft.com/office/powerpoint/2010/main" val="466691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09BB-EF2F-C1F0-A25A-34C600BE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38D69BA-67B4-914D-D15C-16B62E265B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b="0" dirty="0">
                <a:solidFill>
                  <a:schemeClr val="bg2">
                    <a:lumMod val="50000"/>
                  </a:schemeClr>
                </a:solidFill>
              </a:rPr>
              <a:t>Entwicklung der Benutzeroberfläche mit Shiny</a:t>
            </a:r>
          </a:p>
          <a:p>
            <a:r>
              <a:rPr lang="de-DE" dirty="0"/>
              <a:t>Integration der Backend-Funktionen</a:t>
            </a:r>
          </a:p>
          <a:p>
            <a:r>
              <a:rPr lang="de-DE" b="0" dirty="0">
                <a:solidFill>
                  <a:schemeClr val="bg2">
                    <a:lumMod val="50000"/>
                  </a:schemeClr>
                </a:solidFill>
              </a:rPr>
              <a:t>Verschönerung des Layouts</a:t>
            </a:r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4882576-6D37-CDBA-DC8C-CAC153C00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Wichtige Aufgaben der GUI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18DDC9F6-3237-0CE5-DFBE-1DCC0F8A1A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Aufgaben</a:t>
            </a:r>
          </a:p>
        </p:txBody>
      </p:sp>
    </p:spTree>
    <p:extLst>
      <p:ext uri="{BB962C8B-B14F-4D97-AF65-F5344CB8AC3E}">
        <p14:creationId xmlns:p14="http://schemas.microsoft.com/office/powerpoint/2010/main" val="2784713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1CF2CBD-C9A1-FB54-C44F-01C16708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Integration der Backend-Funktionen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BBF561E-C32D-B6B3-CBA4-69B7D497F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Aufrufen von Backend-Funktionen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401875-6CFF-7218-548C-B6E07ACAC4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79306" y="485181"/>
            <a:ext cx="4321865" cy="916520"/>
          </a:xfrm>
        </p:spPr>
        <p:txBody>
          <a:bodyPr/>
          <a:lstStyle/>
          <a:p>
            <a:pPr indent="0">
              <a:buNone/>
            </a:pPr>
            <a:r>
              <a:rPr lang="en-US" dirty="0"/>
              <a:t>Switch() </a:t>
            </a:r>
            <a:r>
              <a:rPr lang="en-US" b="0" dirty="0" err="1"/>
              <a:t>ermöglicht</a:t>
            </a:r>
            <a:r>
              <a:rPr lang="en-US" b="0" dirty="0"/>
              <a:t> die </a:t>
            </a:r>
            <a:r>
              <a:rPr lang="en-US" b="0" dirty="0" err="1"/>
              <a:t>Auswahl</a:t>
            </a:r>
            <a:r>
              <a:rPr lang="en-US" b="0" dirty="0"/>
              <a:t> </a:t>
            </a:r>
            <a:r>
              <a:rPr lang="en-US" b="0" dirty="0" err="1"/>
              <a:t>einer</a:t>
            </a:r>
            <a:r>
              <a:rPr lang="en-US" b="0" dirty="0"/>
              <a:t> Option </a:t>
            </a:r>
            <a:r>
              <a:rPr lang="en-US" b="0" dirty="0" err="1"/>
              <a:t>aus</a:t>
            </a:r>
            <a:r>
              <a:rPr lang="en-US" b="0" dirty="0"/>
              <a:t> </a:t>
            </a:r>
            <a:r>
              <a:rPr lang="en-US" b="0" dirty="0" err="1"/>
              <a:t>einer</a:t>
            </a:r>
            <a:r>
              <a:rPr lang="en-US" b="0" dirty="0"/>
              <a:t> </a:t>
            </a:r>
            <a:r>
              <a:rPr lang="en-US" b="0" dirty="0" err="1"/>
              <a:t>Liste</a:t>
            </a:r>
            <a:r>
              <a:rPr lang="en-US" b="0" dirty="0"/>
              <a:t> von </a:t>
            </a:r>
            <a:r>
              <a:rPr lang="en-US" b="0" dirty="0" err="1"/>
              <a:t>Optionen</a:t>
            </a:r>
            <a:endParaRPr lang="en-US" b="0" dirty="0"/>
          </a:p>
        </p:txBody>
      </p:sp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A41AA9F-0778-5E1D-1D24-FB4471D90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615" y="1401700"/>
            <a:ext cx="5653462" cy="5360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 descr="A computer code with text&#10;&#10;Description automatically generated with medium confidence">
            <a:extLst>
              <a:ext uri="{FF2B5EF4-FFF2-40B4-BE49-F238E27FC236}">
                <a16:creationId xmlns:a16="http://schemas.microsoft.com/office/drawing/2014/main" id="{68A49FEC-E608-546A-C2BF-28D038815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46" y="2188312"/>
            <a:ext cx="5162312" cy="16523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87F8F277-D05C-58A6-AEED-6004AB078CA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589520" y="883616"/>
            <a:ext cx="2810678" cy="2609391"/>
          </a:xfrm>
          <a:prstGeom prst="curvedConnector3">
            <a:avLst>
              <a:gd name="adj1" fmla="val -530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BF8EE73D-1E07-7750-BD9A-2F6E75BE9AF6}"/>
              </a:ext>
            </a:extLst>
          </p:cNvPr>
          <p:cNvSpPr txBox="1">
            <a:spLocks/>
          </p:cNvSpPr>
          <p:nvPr/>
        </p:nvSpPr>
        <p:spPr bwMode="auto">
          <a:xfrm>
            <a:off x="572698" y="4025378"/>
            <a:ext cx="4321865" cy="1415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800" b="1" kern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36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72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8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44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4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Tx/>
              <a:buNone/>
            </a:pPr>
            <a:r>
              <a:rPr lang="en-US" dirty="0" err="1"/>
              <a:t>run_analysis</a:t>
            </a:r>
            <a:r>
              <a:rPr lang="en-US" b="0" dirty="0"/>
              <a:t>: </a:t>
            </a:r>
            <a:r>
              <a:rPr lang="en-US" b="0" dirty="0" err="1"/>
              <a:t>Kernfunktion</a:t>
            </a:r>
            <a:r>
              <a:rPr lang="en-US" b="0" dirty="0"/>
              <a:t> </a:t>
            </a:r>
            <a:r>
              <a:rPr lang="en-US" b="0" dirty="0" err="1"/>
              <a:t>unseres</a:t>
            </a:r>
            <a:r>
              <a:rPr lang="en-US" b="0" dirty="0"/>
              <a:t> Dashboards- </a:t>
            </a:r>
            <a:r>
              <a:rPr lang="en-US" b="0" dirty="0" err="1"/>
              <a:t>ruft</a:t>
            </a:r>
            <a:r>
              <a:rPr lang="en-US" b="0" dirty="0"/>
              <a:t> alle Backend-</a:t>
            </a:r>
            <a:r>
              <a:rPr lang="en-US" b="0" dirty="0" err="1"/>
              <a:t>Funktionen</a:t>
            </a:r>
            <a:r>
              <a:rPr lang="en-US" b="0" dirty="0"/>
              <a:t> und </a:t>
            </a:r>
            <a:r>
              <a:rPr lang="en-US" b="0" dirty="0" err="1"/>
              <a:t>speichert</a:t>
            </a:r>
            <a:r>
              <a:rPr lang="en-US" b="0" dirty="0"/>
              <a:t> die </a:t>
            </a:r>
            <a:r>
              <a:rPr lang="en-US" b="0" dirty="0" err="1"/>
              <a:t>Einstellungen</a:t>
            </a:r>
            <a:r>
              <a:rPr lang="en-US" b="0" dirty="0"/>
              <a:t> der User</a:t>
            </a:r>
          </a:p>
        </p:txBody>
      </p:sp>
    </p:spTree>
    <p:extLst>
      <p:ext uri="{BB962C8B-B14F-4D97-AF65-F5344CB8AC3E}">
        <p14:creationId xmlns:p14="http://schemas.microsoft.com/office/powerpoint/2010/main" val="484492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B80C-C96D-77E1-142D-D7D84901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00A1DB1-CA3A-E805-5C2D-1518F29C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Integration der Backend-Funktionen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963DB8FA-3FEE-F5A6-411D-9C34528E51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Aufrufen von Backend-Funktionen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F445D4D-64AA-8FF4-00B0-66DA05130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74" y="2796217"/>
            <a:ext cx="4922506" cy="36549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1B3823D-4AB6-CB97-B03C-EB238C6B3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291" y="975872"/>
            <a:ext cx="5368544" cy="26193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 descr="A computer code with black text&#10;&#10;Description automatically generated">
            <a:extLst>
              <a:ext uri="{FF2B5EF4-FFF2-40B4-BE49-F238E27FC236}">
                <a16:creationId xmlns:a16="http://schemas.microsoft.com/office/drawing/2014/main" id="{6A40F080-7B10-7A06-0BC7-CFC2EFCF0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990" y="3835657"/>
            <a:ext cx="5702300" cy="2844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19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69133876-0DF8-C4DB-4C9D-6988C1FCC0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103"/>
          <a:stretch/>
        </p:blipFill>
        <p:spPr>
          <a:xfrm>
            <a:off x="393600" y="1149568"/>
            <a:ext cx="2495281" cy="968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F41A534-5A2E-7ED3-8778-CC31D524A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14"/>
          <a:stretch/>
        </p:blipFill>
        <p:spPr>
          <a:xfrm>
            <a:off x="1051067" y="2104041"/>
            <a:ext cx="2495281" cy="656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6CFCFBC-4511-22B9-69C4-908EFE8050A3}"/>
              </a:ext>
            </a:extLst>
          </p:cNvPr>
          <p:cNvSpPr txBox="1">
            <a:spLocks/>
          </p:cNvSpPr>
          <p:nvPr/>
        </p:nvSpPr>
        <p:spPr bwMode="auto">
          <a:xfrm>
            <a:off x="3366973" y="1233930"/>
            <a:ext cx="3806853" cy="96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6"/>
              </a:buBlip>
              <a:defRPr sz="1800" b="1" kern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36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6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72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6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8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6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44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6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Tx/>
              <a:buNone/>
            </a:pPr>
            <a:r>
              <a:rPr lang="en-US" dirty="0" err="1"/>
              <a:t>Reactives</a:t>
            </a:r>
            <a:r>
              <a:rPr lang="en-US" dirty="0"/>
              <a:t>: </a:t>
            </a:r>
            <a:r>
              <a:rPr lang="en-US" dirty="0" err="1"/>
              <a:t>Speicherung</a:t>
            </a:r>
            <a:r>
              <a:rPr lang="en-US" dirty="0"/>
              <a:t> von </a:t>
            </a:r>
            <a:r>
              <a:rPr lang="en-US" dirty="0" err="1"/>
              <a:t>Einstellungen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76006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D0915-722A-D6E6-40A6-CF74D1AD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3BB0FB5-4830-E63D-DD70-9713A466EF0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b="0" dirty="0">
                <a:solidFill>
                  <a:schemeClr val="bg2">
                    <a:lumMod val="50000"/>
                  </a:schemeClr>
                </a:solidFill>
              </a:rPr>
              <a:t>Entwicklung der Benutzeroberfläche mit Shiny</a:t>
            </a:r>
          </a:p>
          <a:p>
            <a:r>
              <a:rPr lang="de-DE" b="0" dirty="0">
                <a:solidFill>
                  <a:schemeClr val="bg2">
                    <a:lumMod val="50000"/>
                  </a:schemeClr>
                </a:solidFill>
              </a:rPr>
              <a:t>Integration der Backend-Funktionen</a:t>
            </a:r>
          </a:p>
          <a:p>
            <a:r>
              <a:rPr lang="de-DE" dirty="0"/>
              <a:t>Verschönerung des Layouts</a:t>
            </a:r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E5FF8DB-655A-2685-50B2-D1763668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Wichtige Aufgaben der GUI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D13AB291-7264-AAB8-E38E-1D1998E32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Aufgaben</a:t>
            </a:r>
          </a:p>
        </p:txBody>
      </p:sp>
    </p:spTree>
    <p:extLst>
      <p:ext uri="{BB962C8B-B14F-4D97-AF65-F5344CB8AC3E}">
        <p14:creationId xmlns:p14="http://schemas.microsoft.com/office/powerpoint/2010/main" val="1296978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574C-2BAB-9AE3-0F75-3C5D09B1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3772EF5-F944-9457-BBCA-35BD272DE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Verschönerung des Layouts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E06BC3CE-1BBC-66CC-5E19-DF13BAFC5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Benutzerfreundlichkeit</a:t>
            </a:r>
          </a:p>
        </p:txBody>
      </p:sp>
      <p:pic>
        <p:nvPicPr>
          <p:cNvPr id="7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A731BFBF-C2E9-3030-8FC1-0C631BB66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" b="18330"/>
          <a:stretch/>
        </p:blipFill>
        <p:spPr>
          <a:xfrm>
            <a:off x="810446" y="1098863"/>
            <a:ext cx="10571108" cy="5352337"/>
          </a:xfrm>
          <a:prstGeom prst="rect">
            <a:avLst/>
          </a:prstGeom>
        </p:spPr>
      </p:pic>
      <p:pic>
        <p:nvPicPr>
          <p:cNvPr id="9" name="Picture 8" descr="A close-up of a code&#10;&#10;Description automatically generated">
            <a:extLst>
              <a:ext uri="{FF2B5EF4-FFF2-40B4-BE49-F238E27FC236}">
                <a16:creationId xmlns:a16="http://schemas.microsoft.com/office/drawing/2014/main" id="{FD82134E-7932-B89D-6054-460CB29BA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412" y="406800"/>
            <a:ext cx="3683000" cy="132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628D22-7231-D43D-DDF8-A2799C03D184}"/>
              </a:ext>
            </a:extLst>
          </p:cNvPr>
          <p:cNvCxnSpPr>
            <a:cxnSpLocks/>
          </p:cNvCxnSpPr>
          <p:nvPr/>
        </p:nvCxnSpPr>
        <p:spPr>
          <a:xfrm flipH="1">
            <a:off x="3584448" y="916094"/>
            <a:ext cx="1108964" cy="535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close-up of a computer code&#10;&#10;Description automatically generated">
            <a:extLst>
              <a:ext uri="{FF2B5EF4-FFF2-40B4-BE49-F238E27FC236}">
                <a16:creationId xmlns:a16="http://schemas.microsoft.com/office/drawing/2014/main" id="{E97359F1-BE08-7657-A7A1-1A7CB10D0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864" y="4283202"/>
            <a:ext cx="3556000" cy="723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B28E4E-4A73-CC4C-E24F-0A93C2FB8102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4047744" y="4595399"/>
            <a:ext cx="1468120" cy="49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 shot of a message&#10;&#10;Description automatically generated">
            <a:extLst>
              <a:ext uri="{FF2B5EF4-FFF2-40B4-BE49-F238E27FC236}">
                <a16:creationId xmlns:a16="http://schemas.microsoft.com/office/drawing/2014/main" id="{37BCF72F-9758-056A-A085-38498B6A49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56" t="37169"/>
          <a:stretch/>
        </p:blipFill>
        <p:spPr>
          <a:xfrm>
            <a:off x="8623114" y="6108469"/>
            <a:ext cx="2758440" cy="6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25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69C8-91E0-9DE5-6DDF-21073C3F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6572207-A322-485D-9C3E-A8ACC7A7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Verschönerung des Layouts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2938BAA7-1F99-5B89-7EB6-114857E438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Benutzerfreundlichkeit</a:t>
            </a:r>
          </a:p>
        </p:txBody>
      </p:sp>
      <p:pic>
        <p:nvPicPr>
          <p:cNvPr id="7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2AEAC3B4-2ACE-A376-F6CF-5D465034B2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" b="18330"/>
          <a:stretch/>
        </p:blipFill>
        <p:spPr>
          <a:xfrm>
            <a:off x="810446" y="1098863"/>
            <a:ext cx="10571108" cy="5352337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7728E0-62B4-4A3A-2233-905E6040596B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977640" y="5522976"/>
            <a:ext cx="4645474" cy="916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 shot of a message&#10;&#10;Description automatically generated">
            <a:extLst>
              <a:ext uri="{FF2B5EF4-FFF2-40B4-BE49-F238E27FC236}">
                <a16:creationId xmlns:a16="http://schemas.microsoft.com/office/drawing/2014/main" id="{73398CE2-7284-83C2-D164-6B5DA4D3F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56" t="37169"/>
          <a:stretch/>
        </p:blipFill>
        <p:spPr>
          <a:xfrm>
            <a:off x="8623114" y="6108469"/>
            <a:ext cx="2758440" cy="662017"/>
          </a:xfrm>
          <a:prstGeom prst="rect">
            <a:avLst/>
          </a:prstGeom>
        </p:spPr>
      </p:pic>
      <p:pic>
        <p:nvPicPr>
          <p:cNvPr id="2" name="Picture 1" descr="A close-up of words&#10;&#10;Description automatically generated">
            <a:extLst>
              <a:ext uri="{FF2B5EF4-FFF2-40B4-BE49-F238E27FC236}">
                <a16:creationId xmlns:a16="http://schemas.microsoft.com/office/drawing/2014/main" id="{727ED668-753D-DEFC-8D89-9993570111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00" y="4515442"/>
            <a:ext cx="5295900" cy="114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3387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E5A04-A408-359C-4FCF-1A6E7CE3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62C46DA-71A3-CFB2-2B0C-C74040CC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Verschönerung des Layouts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9E1968F3-B64A-122B-33C8-532686681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Benutzerfreundlichkeit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FC863-3A88-C6AB-87D0-454B03FD4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00" y="4738085"/>
            <a:ext cx="7104480" cy="17339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computer code with green and blue text&#10;&#10;Description automatically generated">
            <a:extLst>
              <a:ext uri="{FF2B5EF4-FFF2-40B4-BE49-F238E27FC236}">
                <a16:creationId xmlns:a16="http://schemas.microsoft.com/office/drawing/2014/main" id="{B3B74695-7B9F-837F-3C79-E1E644042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270420"/>
            <a:ext cx="3579368" cy="3284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screenshot of a phone&#10;&#10;Description automatically generated">
            <a:extLst>
              <a:ext uri="{FF2B5EF4-FFF2-40B4-BE49-F238E27FC236}">
                <a16:creationId xmlns:a16="http://schemas.microsoft.com/office/drawing/2014/main" id="{5AE1338A-6D4A-0F16-060C-6E1BD55334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421" y="3996208"/>
            <a:ext cx="4056979" cy="2516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6F3CA2-AD34-94E6-92FC-8E78EF6C08AD}"/>
              </a:ext>
            </a:extLst>
          </p:cNvPr>
          <p:cNvCxnSpPr>
            <a:cxnSpLocks/>
          </p:cNvCxnSpPr>
          <p:nvPr/>
        </p:nvCxnSpPr>
        <p:spPr>
          <a:xfrm>
            <a:off x="1920240" y="3849624"/>
            <a:ext cx="4175760" cy="2263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111E1BEE-F96B-5037-DCED-CCF9195EEA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294" y="442405"/>
            <a:ext cx="4519571" cy="335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D12B81-9C91-7C16-9364-F6907423B10D}"/>
              </a:ext>
            </a:extLst>
          </p:cNvPr>
          <p:cNvCxnSpPr>
            <a:cxnSpLocks/>
          </p:cNvCxnSpPr>
          <p:nvPr/>
        </p:nvCxnSpPr>
        <p:spPr>
          <a:xfrm>
            <a:off x="8278930" y="3429000"/>
            <a:ext cx="1318315" cy="1673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13359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8A1B42C8-6EEC-445B-A900-F154598C64A4}"/>
    </a:ext>
  </a:extLst>
</a:theme>
</file>

<file path=ppt/theme/theme2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64CF7779-663E-47E0-BCB9-5091361682A2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AB19A0A86D2148BE9E8CA48E53677F" ma:contentTypeVersion="2" ma:contentTypeDescription="Ein neues Dokument erstellen." ma:contentTypeScope="" ma:versionID="1e80b2ca2b93bd808485b2d451bc603f">
  <xsd:schema xmlns:xsd="http://www.w3.org/2001/XMLSchema" xmlns:xs="http://www.w3.org/2001/XMLSchema" xmlns:p="http://schemas.microsoft.com/office/2006/metadata/properties" xmlns:ns2="bfb11438-62cb-48e0-8e08-adb7b8077717" xmlns:ns3="3ea1445a-e6f2-4b21-90f1-4e4a5aca6572" xmlns:ns4="bb6f2568-2a10-4a56-89e3-032448edb678" targetNamespace="http://schemas.microsoft.com/office/2006/metadata/properties" ma:root="true" ma:fieldsID="6bdf8fd81a7b586dd79b811828187a67" ns2:_="" ns3:_="" ns4:_="">
    <xsd:import namespace="bfb11438-62cb-48e0-8e08-adb7b8077717"/>
    <xsd:import namespace="3ea1445a-e6f2-4b21-90f1-4e4a5aca6572"/>
    <xsd:import namespace="bb6f2568-2a10-4a56-89e3-032448edb6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ategorie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11438-62cb-48e0-8e08-adb7b807771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1445a-e6f2-4b21-90f1-4e4a5aca6572" elementFormDefault="qualified">
    <xsd:import namespace="http://schemas.microsoft.com/office/2006/documentManagement/types"/>
    <xsd:import namespace="http://schemas.microsoft.com/office/infopath/2007/PartnerControls"/>
    <xsd:element name="Kategorie" ma:index="11" ma:displayName="Kategorie" ma:default="NEU" ma:format="Dropdown" ma:internalName="Kategorie">
      <xsd:simpleType>
        <xsd:restriction base="dms:Choice">
          <xsd:enumeration value="NEU"/>
          <xsd:enumeration value="Fakultätsfarben"/>
          <xsd:enumeration value="Vorlagen Briefe"/>
          <xsd:enumeration value="Lageplan"/>
          <xsd:enumeration value="Logos"/>
          <xsd:enumeration value="Vorlagen Präsentationen 4:3"/>
          <xsd:enumeration value="Vorlagen Präsentationen 16:9"/>
          <xsd:enumeration value="Plakate"/>
          <xsd:enumeration value="Leitfäden"/>
          <xsd:enumeration value="TH Intern"/>
          <xsd:enumeration value="Hochschulpräsentationen"/>
          <xsd:enumeration value="Webhandbu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f2568-2a10-4a56-89e3-032448edb6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3ea1445a-e6f2-4b21-90f1-4e4a5aca6572">Vorlagen Präsentationen 16:9</Kategorie>
    <_dlc_DocId xmlns="bfb11438-62cb-48e0-8e08-adb7b8077717">4ZPPNAQV5EQV-6530471-237</_dlc_DocId>
    <_dlc_DocIdUrl xmlns="bfb11438-62cb-48e0-8e08-adb7b8077717">
      <Url>https://mythi.de/_layouts/15/DocIdRedir.aspx?ID=4ZPPNAQV5EQV-6530471-237</Url>
      <Description>4ZPPNAQV5EQV-6530471-237</Description>
    </_dlc_DocIdUrl>
  </documentManagement>
</p:properties>
</file>

<file path=customXml/itemProps1.xml><?xml version="1.0" encoding="utf-8"?>
<ds:datastoreItem xmlns:ds="http://schemas.openxmlformats.org/officeDocument/2006/customXml" ds:itemID="{7C111C41-FBCC-4433-B45C-C3FBA6F15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11438-62cb-48e0-8e08-adb7b8077717"/>
    <ds:schemaRef ds:uri="3ea1445a-e6f2-4b21-90f1-4e4a5aca6572"/>
    <ds:schemaRef ds:uri="bb6f2568-2a10-4a56-89e3-032448edb6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E7C72F-ED79-494F-A7ED-1F0FF5B91F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0C7402-FDBD-4B5F-A7A1-6AD2340559B8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5B5802FD-0FE5-40B9-964E-26CF6C896D54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3ea1445a-e6f2-4b21-90f1-4e4a5aca6572"/>
    <ds:schemaRef ds:uri="http://schemas.microsoft.com/office/infopath/2007/PartnerControls"/>
    <ds:schemaRef ds:uri="bb6f2568-2a10-4a56-89e3-032448edb678"/>
    <ds:schemaRef ds:uri="bfb11438-62cb-48e0-8e08-adb7b807771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Random_Forests</Template>
  <TotalTime>841</TotalTime>
  <Words>154</Words>
  <Application>Microsoft Macintosh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2_Office</vt:lpstr>
      <vt:lpstr>1_Bildschirm</vt:lpstr>
      <vt:lpstr>PowerPoint Presentation</vt:lpstr>
      <vt:lpstr>Wichtige Aufgaben der GUI</vt:lpstr>
      <vt:lpstr>Wichtige Aufgaben der GUI</vt:lpstr>
      <vt:lpstr>Entwicklung der Benutzeroberfläche mit Shiny</vt:lpstr>
      <vt:lpstr>Entwicklung der Benutzeroberfläche mit Shiny</vt:lpstr>
      <vt:lpstr>Entwicklung der Benutzeroberfläche mit Shiny</vt:lpstr>
      <vt:lpstr>Entwicklung der Benutzeroberfläche mit Shiny</vt:lpstr>
      <vt:lpstr>Wichtige Aufgaben der GUI</vt:lpstr>
      <vt:lpstr>Integration der Backend-Funktionen</vt:lpstr>
      <vt:lpstr>Integration der Backend-Funktionen</vt:lpstr>
      <vt:lpstr>Wichtige Aufgaben der GUI</vt:lpstr>
      <vt:lpstr>Verschönerung des Layouts</vt:lpstr>
      <vt:lpstr>Verschönerung des Layouts</vt:lpstr>
      <vt:lpstr>Verschönerung des Layouts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Wiki Cholewa</dc:creator>
  <cp:lastModifiedBy>Narasimhan, Adrika (Stud. I - BMI)</cp:lastModifiedBy>
  <cp:revision>47</cp:revision>
  <cp:lastPrinted>2018-04-09T18:27:12Z</cp:lastPrinted>
  <dcterms:created xsi:type="dcterms:W3CDTF">2024-05-27T14:56:43Z</dcterms:created>
  <dcterms:modified xsi:type="dcterms:W3CDTF">2026-07-16T18:06:24Z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0x01010078AB19A0A86D2148BE9E8CA48E53677F</vt:lpwstr>
  </property>
  <property fmtid="{D5CDD505-2E9C-101B-9397-08002B2CF9AE}" pid="3" name="_dlc_DocIdItemGuid">
    <vt:lpwstr>01d87115-5e35-40f8-a10e-6019eecf87d0</vt:lpwstr>
  </property>
</Properties>
</file>