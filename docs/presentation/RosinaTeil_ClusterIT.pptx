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5"/>
    <p:sldMasterId id="2147483668" r:id="rId6"/>
  </p:sldMasterIdLst>
  <p:notesMasterIdLst>
    <p:notesMasterId r:id="rId21"/>
  </p:notesMasterIdLst>
  <p:sldIdLst>
    <p:sldId id="256" r:id="rId7"/>
    <p:sldId id="283" r:id="rId8"/>
    <p:sldId id="284" r:id="rId9"/>
    <p:sldId id="287" r:id="rId10"/>
    <p:sldId id="288" r:id="rId11"/>
    <p:sldId id="290" r:id="rId12"/>
    <p:sldId id="291" r:id="rId13"/>
    <p:sldId id="293" r:id="rId14"/>
    <p:sldId id="292" r:id="rId15"/>
    <p:sldId id="294" r:id="rId16"/>
    <p:sldId id="296" r:id="rId17"/>
    <p:sldId id="297" r:id="rId18"/>
    <p:sldId id="298" r:id="rId19"/>
    <p:sldId id="289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ktoria Cholewa" initials="WC" lastIdx="2" clrIdx="0">
    <p:extLst>
      <p:ext uri="{19B8F6BF-5375-455C-9EA6-DF929625EA0E}">
        <p15:presenceInfo xmlns:p15="http://schemas.microsoft.com/office/powerpoint/2012/main" userId="a7e065584b631d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C28"/>
    <a:srgbClr val="0008FF"/>
    <a:srgbClr val="FFFFFF"/>
    <a:srgbClr val="B28015"/>
    <a:srgbClr val="D7D700"/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4" autoAdjust="0"/>
    <p:restoredTop sz="89104" autoAdjust="0"/>
  </p:normalViewPr>
  <p:slideViewPr>
    <p:cSldViewPr snapToGrid="0" showGuides="1">
      <p:cViewPr varScale="1">
        <p:scale>
          <a:sx n="98" d="100"/>
          <a:sy n="98" d="100"/>
        </p:scale>
        <p:origin x="136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48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Wichtig: log will nicht all Ausreißer verschwinden lassen</a:t>
            </a:r>
          </a:p>
          <a:p>
            <a:pPr marL="171450" indent="-171450">
              <a:buFontTx/>
              <a:buChar char="-"/>
            </a:pPr>
            <a:r>
              <a:rPr lang="de-DE" dirty="0"/>
              <a:t>Soll Dominanz von sehr hohen Expressionswert verhindern</a:t>
            </a:r>
          </a:p>
          <a:p>
            <a:pPr marL="171450" indent="-171450">
              <a:buFontTx/>
              <a:buChar char="-"/>
            </a:pPr>
            <a:r>
              <a:rPr lang="de-DE" dirty="0"/>
              <a:t>Jetzt können auch Patient mit ungewöhnlich niedrigen Werte hervorstechen -&gt; auch sehr interessant </a:t>
            </a:r>
            <a:r>
              <a:rPr lang="de-DE"/>
              <a:t>biologische Sichtweise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6CFAF-25DC-4335-BB6F-0DF8AAA92CE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8465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09E3C423-5E7A-4DDD-B38B-F27554E0DE8A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452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3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6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>
          <a:xfrm>
            <a:off x="393699" y="6627813"/>
            <a:ext cx="239185" cy="2079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B21705E7-C58B-41C1-85E5-D48DB982E5E7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712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5798B34-4A25-40A0-900B-1450FBA63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" b="7798"/>
          <a:stretch/>
        </p:blipFill>
        <p:spPr>
          <a:xfrm>
            <a:off x="4175" y="0"/>
            <a:ext cx="12187825" cy="6858000"/>
          </a:xfrm>
          <a:prstGeom prst="rect">
            <a:avLst/>
          </a:prstGeom>
        </p:spPr>
      </p:pic>
      <p:pic>
        <p:nvPicPr>
          <p:cNvPr id="6" name="Grafik 13">
            <a:extLst>
              <a:ext uri="{FF2B5EF4-FFF2-40B4-BE49-F238E27FC236}">
                <a16:creationId xmlns:a16="http://schemas.microsoft.com/office/drawing/2014/main" id="{DDBD8EDB-F6BF-46C2-A48B-112205C0E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6DA9497-EC4F-483C-BC2B-4763B264BE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6716" y="720001"/>
            <a:ext cx="2770887" cy="14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7222">
          <p15:clr>
            <a:srgbClr val="F26B43"/>
          </p15:clr>
        </p15:guide>
        <p15:guide id="6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 dirty="0"/>
              <a:t> Technische Hochschule Ingolstadt</a:t>
            </a:r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74C4E33B-49A6-4300-83A6-C76B1520ABA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" y="1584325"/>
            <a:ext cx="288925" cy="4997450"/>
          </a:xfrm>
          <a:custGeom>
            <a:avLst/>
            <a:gdLst>
              <a:gd name="connsiteX0" fmla="*/ 0 w 288925"/>
              <a:gd name="connsiteY0" fmla="*/ 0 h 4997450"/>
              <a:gd name="connsiteX1" fmla="*/ 72124 w 288925"/>
              <a:gd name="connsiteY1" fmla="*/ 0 h 4997450"/>
              <a:gd name="connsiteX2" fmla="*/ 288925 w 288925"/>
              <a:gd name="connsiteY2" fmla="*/ 216575 h 4997450"/>
              <a:gd name="connsiteX3" fmla="*/ 288925 w 288925"/>
              <a:gd name="connsiteY3" fmla="*/ 4961195 h 4997450"/>
              <a:gd name="connsiteX4" fmla="*/ 252632 w 288925"/>
              <a:gd name="connsiteY4" fmla="*/ 4997450 h 4997450"/>
              <a:gd name="connsiteX5" fmla="*/ 0 w 288925"/>
              <a:gd name="connsiteY5" fmla="*/ 4997450 h 4997450"/>
              <a:gd name="connsiteX6" fmla="*/ 0 w 28892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925" h="4997450">
                <a:moveTo>
                  <a:pt x="0" y="0"/>
                </a:moveTo>
                <a:lnTo>
                  <a:pt x="72124" y="0"/>
                </a:lnTo>
                <a:cubicBezTo>
                  <a:pt x="288925" y="0"/>
                  <a:pt x="288925" y="216575"/>
                  <a:pt x="288925" y="216575"/>
                </a:cubicBezTo>
                <a:lnTo>
                  <a:pt x="288925" y="4961195"/>
                </a:lnTo>
                <a:cubicBezTo>
                  <a:pt x="288925" y="4997450"/>
                  <a:pt x="252632" y="4997450"/>
                  <a:pt x="252632" y="4997450"/>
                </a:cubicBezTo>
                <a:lnTo>
                  <a:pt x="0" y="4997450"/>
                </a:lnTo>
                <a:lnTo>
                  <a:pt x="0" y="0"/>
                </a:lnTo>
                <a:close/>
              </a:path>
            </a:pathLst>
          </a:custGeom>
          <a:solidFill>
            <a:srgbClr val="D7D7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B9A292F-0451-4569-B1A0-1D585F6801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438150" cy="6858000"/>
          </a:xfrm>
          <a:custGeom>
            <a:avLst/>
            <a:gdLst>
              <a:gd name="connsiteX0" fmla="*/ 0 w 438150"/>
              <a:gd name="connsiteY0" fmla="*/ 0 h 6858000"/>
              <a:gd name="connsiteX1" fmla="*/ 438150 w 438150"/>
              <a:gd name="connsiteY1" fmla="*/ 0 h 6858000"/>
              <a:gd name="connsiteX2" fmla="*/ 438150 w 438150"/>
              <a:gd name="connsiteY2" fmla="*/ 6858000 h 6858000"/>
              <a:gd name="connsiteX3" fmla="*/ 0 w 438150"/>
              <a:gd name="connsiteY3" fmla="*/ 6858000 h 6858000"/>
              <a:gd name="connsiteX4" fmla="*/ 0 w 438150"/>
              <a:gd name="connsiteY4" fmla="*/ 6581775 h 6858000"/>
              <a:gd name="connsiteX5" fmla="*/ 252632 w 438150"/>
              <a:gd name="connsiteY5" fmla="*/ 6581775 h 6858000"/>
              <a:gd name="connsiteX6" fmla="*/ 288925 w 438150"/>
              <a:gd name="connsiteY6" fmla="*/ 6545520 h 6858000"/>
              <a:gd name="connsiteX7" fmla="*/ 288925 w 438150"/>
              <a:gd name="connsiteY7" fmla="*/ 1800900 h 6858000"/>
              <a:gd name="connsiteX8" fmla="*/ 72124 w 438150"/>
              <a:gd name="connsiteY8" fmla="*/ 1584325 h 6858000"/>
              <a:gd name="connsiteX9" fmla="*/ 0 w 438150"/>
              <a:gd name="connsiteY9" fmla="*/ 1584325 h 6858000"/>
              <a:gd name="connsiteX10" fmla="*/ 0 w 43815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50" h="6858000">
                <a:moveTo>
                  <a:pt x="0" y="0"/>
                </a:moveTo>
                <a:lnTo>
                  <a:pt x="438150" y="0"/>
                </a:lnTo>
                <a:lnTo>
                  <a:pt x="438150" y="6858000"/>
                </a:lnTo>
                <a:lnTo>
                  <a:pt x="0" y="6858000"/>
                </a:lnTo>
                <a:lnTo>
                  <a:pt x="0" y="6581775"/>
                </a:lnTo>
                <a:lnTo>
                  <a:pt x="252632" y="6581775"/>
                </a:lnTo>
                <a:cubicBezTo>
                  <a:pt x="252632" y="6581775"/>
                  <a:pt x="288925" y="6581775"/>
                  <a:pt x="288925" y="6545520"/>
                </a:cubicBezTo>
                <a:lnTo>
                  <a:pt x="288925" y="1800900"/>
                </a:lnTo>
                <a:cubicBezTo>
                  <a:pt x="288925" y="1800900"/>
                  <a:pt x="288925" y="1584325"/>
                  <a:pt x="72124" y="1584325"/>
                </a:cubicBezTo>
                <a:lnTo>
                  <a:pt x="0" y="15843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152EDF18-C2BE-4416-B697-E7527905AE10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717675" y="1584325"/>
            <a:ext cx="1717675" cy="4997450"/>
          </a:xfrm>
          <a:custGeom>
            <a:avLst/>
            <a:gdLst>
              <a:gd name="connsiteX0" fmla="*/ 36293 w 1717675"/>
              <a:gd name="connsiteY0" fmla="*/ 0 h 4997450"/>
              <a:gd name="connsiteX1" fmla="*/ 1717675 w 1717675"/>
              <a:gd name="connsiteY1" fmla="*/ 0 h 4997450"/>
              <a:gd name="connsiteX2" fmla="*/ 1717675 w 1717675"/>
              <a:gd name="connsiteY2" fmla="*/ 4997450 h 4997450"/>
              <a:gd name="connsiteX3" fmla="*/ 216801 w 1717675"/>
              <a:gd name="connsiteY3" fmla="*/ 4997450 h 4997450"/>
              <a:gd name="connsiteX4" fmla="*/ 0 w 1717675"/>
              <a:gd name="connsiteY4" fmla="*/ 4781829 h 4997450"/>
              <a:gd name="connsiteX5" fmla="*/ 0 w 1717675"/>
              <a:gd name="connsiteY5" fmla="*/ 36255 h 4997450"/>
              <a:gd name="connsiteX6" fmla="*/ 36293 w 171767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7675" h="4997450">
                <a:moveTo>
                  <a:pt x="36293" y="0"/>
                </a:moveTo>
                <a:lnTo>
                  <a:pt x="1717675" y="0"/>
                </a:lnTo>
                <a:lnTo>
                  <a:pt x="1717675" y="4997450"/>
                </a:lnTo>
                <a:lnTo>
                  <a:pt x="216801" y="4997450"/>
                </a:lnTo>
                <a:cubicBezTo>
                  <a:pt x="0" y="4997450"/>
                  <a:pt x="0" y="4781829"/>
                  <a:pt x="0" y="4781829"/>
                </a:cubicBezTo>
                <a:lnTo>
                  <a:pt x="0" y="36255"/>
                </a:lnTo>
                <a:cubicBezTo>
                  <a:pt x="0" y="0"/>
                  <a:pt x="36293" y="0"/>
                  <a:pt x="36293" y="0"/>
                </a:cubicBez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86" r:id="rId10"/>
  </p:sldLayoutIdLst>
  <p:hf sldNum="0" hdr="0" ftr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4">
            <a:extLst>
              <a:ext uri="{FF2B5EF4-FFF2-40B4-BE49-F238E27FC236}">
                <a16:creationId xmlns:a16="http://schemas.microsoft.com/office/drawing/2014/main" id="{A2A73B90-07A7-8E8B-CEBC-BEB95963B901}"/>
              </a:ext>
            </a:extLst>
          </p:cNvPr>
          <p:cNvSpPr/>
          <p:nvPr/>
        </p:nvSpPr>
        <p:spPr>
          <a:xfrm>
            <a:off x="6169511" y="0"/>
            <a:ext cx="7828155" cy="6858000"/>
          </a:xfrm>
          <a:prstGeom prst="parallelogram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657459" y="3640433"/>
            <a:ext cx="5368925" cy="1002918"/>
          </a:xfrm>
        </p:spPr>
        <p:txBody>
          <a:bodyPr>
            <a:normAutofit/>
          </a:bodyPr>
          <a:lstStyle/>
          <a:p>
            <a:r>
              <a:rPr lang="de-DE" dirty="0" err="1"/>
              <a:t>ClusterIt</a:t>
            </a:r>
            <a:r>
              <a:rPr lang="de-DE" dirty="0"/>
              <a:t>!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D03-C43A-4599-9C3E-0C076A417A3C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Unsere Namen</a:t>
            </a:r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7C8A103-0E57-DFC5-7677-C86D76011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875" y="3265200"/>
            <a:ext cx="4782249" cy="327600"/>
          </a:xfrm>
        </p:spPr>
        <p:txBody>
          <a:bodyPr>
            <a:noAutofit/>
          </a:bodyPr>
          <a:lstStyle/>
          <a:p>
            <a:r>
              <a:rPr lang="de-DE" sz="4400" dirty="0"/>
              <a:t>Datenvorbereitung</a:t>
            </a:r>
          </a:p>
        </p:txBody>
      </p:sp>
    </p:spTree>
    <p:extLst>
      <p:ext uri="{BB962C8B-B14F-4D97-AF65-F5344CB8AC3E}">
        <p14:creationId xmlns:p14="http://schemas.microsoft.com/office/powerpoint/2010/main" val="412747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12C8-9580-82BA-152C-A3CE53E4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1FE67CC-CB29-E4F8-1400-1124EE92BA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1140035"/>
            <a:ext cx="11063816" cy="4741200"/>
          </a:xfrm>
        </p:spPr>
        <p:txBody>
          <a:bodyPr/>
          <a:lstStyle/>
          <a:p>
            <a:pPr indent="0">
              <a:buNone/>
            </a:pPr>
            <a:r>
              <a:rPr lang="de-DE" i="1" dirty="0"/>
              <a:t>Ziel:</a:t>
            </a:r>
            <a:r>
              <a:rPr lang="de-DE" b="0" dirty="0"/>
              <a:t> Eine konsistente Datenstruktur für die Normalisierung und Clusteranalyse sicherzustellen</a:t>
            </a:r>
          </a:p>
          <a:p>
            <a:endParaRPr lang="de-DE" b="0" dirty="0"/>
          </a:p>
          <a:p>
            <a:pPr indent="0">
              <a:buNone/>
            </a:pPr>
            <a:endParaRPr lang="de-DE" b="0" dirty="0"/>
          </a:p>
          <a:p>
            <a:r>
              <a:rPr lang="de-DE" b="0" dirty="0"/>
              <a:t>Mindestanzahl an Zeilen</a:t>
            </a:r>
          </a:p>
          <a:p>
            <a:r>
              <a:rPr lang="de-DE" b="0" dirty="0"/>
              <a:t>Zahlen kleiner als -1 </a:t>
            </a:r>
          </a:p>
          <a:p>
            <a:r>
              <a:rPr lang="de-DE" b="0" dirty="0"/>
              <a:t>Unendliche Werte (sehr unwahrscheinlich)</a:t>
            </a:r>
          </a:p>
          <a:p>
            <a:endParaRPr lang="de-DE" b="0" dirty="0"/>
          </a:p>
          <a:p>
            <a:endParaRPr lang="de-DE" b="0" dirty="0"/>
          </a:p>
          <a:p>
            <a:r>
              <a:rPr lang="de-DE" b="0" dirty="0"/>
              <a:t>In Matrix umwandeln</a:t>
            </a:r>
          </a:p>
          <a:p>
            <a:r>
              <a:rPr lang="de-DE" b="0" dirty="0"/>
              <a:t>Alle Werte auf numerisch stellen</a:t>
            </a:r>
          </a:p>
          <a:p>
            <a:r>
              <a:rPr lang="de-DE" b="0" dirty="0"/>
              <a:t>NA-Werte ersetzen per Mittelwert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25F0311-C6B7-2E81-9F58-504EB5933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Datenvorbereitung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1B41D364-617C-DC13-40E0-E861A2FD0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1968166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de-DE" sz="1800" b="1" dirty="0"/>
              <a:t>Datensatz wird überprüft auf:</a:t>
            </a:r>
          </a:p>
        </p:txBody>
      </p:sp>
      <p:sp>
        <p:nvSpPr>
          <p:cNvPr id="9" name="Untertitel 7">
            <a:extLst>
              <a:ext uri="{FF2B5EF4-FFF2-40B4-BE49-F238E27FC236}">
                <a16:creationId xmlns:a16="http://schemas.microsoft.com/office/drawing/2014/main" id="{7B8B8338-4EBE-8666-7D3E-CA2C140CD242}"/>
              </a:ext>
            </a:extLst>
          </p:cNvPr>
          <p:cNvSpPr txBox="1">
            <a:spLocks/>
          </p:cNvSpPr>
          <p:nvPr/>
        </p:nvSpPr>
        <p:spPr bwMode="auto">
          <a:xfrm>
            <a:off x="393600" y="4098699"/>
            <a:ext cx="9753600" cy="342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0" algn="l" defTabSz="4572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sz="1600" b="0" i="1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0" algn="ctr" defTabSz="4572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3pPr>
            <a:lvl4pPr marL="1371600" indent="0" algn="ctr" defTabSz="4572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4pPr>
            <a:lvl5pPr marL="1828800" indent="0" algn="ctr" defTabSz="457200" rt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kern="0" dirty="0"/>
              <a:t>Datensatz bearbeiten:</a:t>
            </a:r>
          </a:p>
        </p:txBody>
      </p:sp>
    </p:spTree>
    <p:extLst>
      <p:ext uri="{BB962C8B-B14F-4D97-AF65-F5344CB8AC3E}">
        <p14:creationId xmlns:p14="http://schemas.microsoft.com/office/powerpoint/2010/main" val="3658811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C398-09AE-B567-F2B7-9442050A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71BB32C-FFC4-71A5-E211-18E775D7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875" y="3265200"/>
            <a:ext cx="4782249" cy="327600"/>
          </a:xfrm>
        </p:spPr>
        <p:txBody>
          <a:bodyPr>
            <a:noAutofit/>
          </a:bodyPr>
          <a:lstStyle/>
          <a:p>
            <a:r>
              <a:rPr lang="de-DE" sz="4400" dirty="0"/>
              <a:t>Normalisierung</a:t>
            </a:r>
          </a:p>
        </p:txBody>
      </p:sp>
    </p:spTree>
    <p:extLst>
      <p:ext uri="{BB962C8B-B14F-4D97-AF65-F5344CB8AC3E}">
        <p14:creationId xmlns:p14="http://schemas.microsoft.com/office/powerpoint/2010/main" val="196708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ADC87-01FB-F77D-CC79-5174897B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B18394C-A078-0AF7-9FA9-CB6F3E17E55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2575659"/>
            <a:ext cx="11063816" cy="1706682"/>
          </a:xfrm>
        </p:spPr>
        <p:txBody>
          <a:bodyPr/>
          <a:lstStyle/>
          <a:p>
            <a:r>
              <a:rPr lang="de-DE" b="0" dirty="0"/>
              <a:t>Technische Störeinflüsse reduzieren</a:t>
            </a:r>
          </a:p>
          <a:p>
            <a:r>
              <a:rPr lang="de-DE" b="0" dirty="0"/>
              <a:t>Vergleichbarkeit verbessern</a:t>
            </a:r>
          </a:p>
          <a:p>
            <a:r>
              <a:rPr lang="de-DE" b="0" dirty="0"/>
              <a:t>Verzerrungen minimieren</a:t>
            </a:r>
          </a:p>
          <a:p>
            <a:r>
              <a:rPr lang="de-DE" b="0" dirty="0"/>
              <a:t>Grundlage für zuverlässige Clusteranalyse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4095B96-150F-9161-CD0E-C38D0E32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Normalisierung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1EB21071-01AA-FBF0-06BE-A1FA9454C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2152328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de-DE" sz="1800" b="1" dirty="0"/>
              <a:t>Ziele</a:t>
            </a:r>
          </a:p>
        </p:txBody>
      </p:sp>
    </p:spTree>
    <p:extLst>
      <p:ext uri="{BB962C8B-B14F-4D97-AF65-F5344CB8AC3E}">
        <p14:creationId xmlns:p14="http://schemas.microsoft.com/office/powerpoint/2010/main" val="144640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655A9-BC65-1B0B-AD38-DE9BA23C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2101588-41F5-F64B-3390-07CDB16063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2575659"/>
            <a:ext cx="11063816" cy="2764092"/>
          </a:xfrm>
        </p:spPr>
        <p:txBody>
          <a:bodyPr>
            <a:normAutofit/>
          </a:bodyPr>
          <a:lstStyle/>
          <a:p>
            <a:r>
              <a:rPr lang="de-DE" b="0" dirty="0"/>
              <a:t>Keine Normalisierung</a:t>
            </a:r>
          </a:p>
          <a:p>
            <a:r>
              <a:rPr lang="de-DE" b="0" dirty="0"/>
              <a:t>Nur Logarithmieren</a:t>
            </a:r>
          </a:p>
          <a:p>
            <a:r>
              <a:rPr lang="de-DE" b="0" dirty="0"/>
              <a:t>Z-Score (mit/ohne Log)</a:t>
            </a:r>
          </a:p>
          <a:p>
            <a:r>
              <a:rPr lang="de-DE" b="0" dirty="0"/>
              <a:t>Median-Zentrierung (mit/ohne Log)</a:t>
            </a:r>
          </a:p>
          <a:p>
            <a:r>
              <a:rPr lang="de-DE" b="0" dirty="0"/>
              <a:t>MAD-Normalisierung (mit/ohne Log) 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B33B24E-F331-ADDF-38FA-FB1F32FF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Normalisierung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CD7D6B2C-D138-F5E5-3948-07F62B6C9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2152328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de-DE" sz="1800" b="1" dirty="0"/>
              <a:t>Methoden</a:t>
            </a:r>
          </a:p>
        </p:txBody>
      </p:sp>
    </p:spTree>
    <p:extLst>
      <p:ext uri="{BB962C8B-B14F-4D97-AF65-F5344CB8AC3E}">
        <p14:creationId xmlns:p14="http://schemas.microsoft.com/office/powerpoint/2010/main" val="1376411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0CAE9-90CD-2990-4696-3641E6BB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36C582D-639D-5479-81D6-AC371563CC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2575659"/>
            <a:ext cx="11063816" cy="2764092"/>
          </a:xfrm>
        </p:spPr>
        <p:txBody>
          <a:bodyPr>
            <a:normAutofit/>
          </a:bodyPr>
          <a:lstStyle/>
          <a:p>
            <a:r>
              <a:rPr lang="de-DE" b="0" dirty="0"/>
              <a:t>Keine Normalisierung</a:t>
            </a:r>
          </a:p>
          <a:p>
            <a:r>
              <a:rPr lang="de-DE" b="0" dirty="0"/>
              <a:t>Nur Logarithmieren</a:t>
            </a:r>
          </a:p>
          <a:p>
            <a:r>
              <a:rPr lang="de-DE" b="0" dirty="0"/>
              <a:t>Z-Score (mit/ohne Log)</a:t>
            </a:r>
          </a:p>
          <a:p>
            <a:r>
              <a:rPr lang="de-DE" b="0" dirty="0"/>
              <a:t>Median-Zentrierung (mit/ohne Log)</a:t>
            </a:r>
          </a:p>
          <a:p>
            <a:r>
              <a:rPr lang="de-DE" b="0" dirty="0"/>
              <a:t>MAD-Normalisierung (mit/ohne Log) 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FAF7861-645B-6FC1-55F4-367C83A3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Normalisierung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7E2B1D21-C8E4-8CE4-5958-6FEBDC97E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2152328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de-DE" sz="1800" b="1" dirty="0"/>
              <a:t>Methoden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D816451E-8BCE-2C03-3879-1BDAEB4FE914}"/>
              </a:ext>
            </a:extLst>
          </p:cNvPr>
          <p:cNvSpPr/>
          <p:nvPr/>
        </p:nvSpPr>
        <p:spPr>
          <a:xfrm>
            <a:off x="3355675" y="2691441"/>
            <a:ext cx="3321170" cy="207033"/>
          </a:xfrm>
          <a:prstGeom prst="rightArrow">
            <a:avLst/>
          </a:prstGeom>
          <a:solidFill>
            <a:srgbClr val="C00000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F729C67-7FD6-9F61-57BD-B5663E4455D5}"/>
              </a:ext>
            </a:extLst>
          </p:cNvPr>
          <p:cNvSpPr/>
          <p:nvPr/>
        </p:nvSpPr>
        <p:spPr>
          <a:xfrm>
            <a:off x="6849123" y="2455601"/>
            <a:ext cx="4606506" cy="103944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4295282C-3210-5C89-92CC-AC4E932F7F6C}"/>
              </a:ext>
            </a:extLst>
          </p:cNvPr>
          <p:cNvSpPr txBox="1">
            <a:spLocks/>
          </p:cNvSpPr>
          <p:nvPr/>
        </p:nvSpPr>
        <p:spPr bwMode="auto">
          <a:xfrm>
            <a:off x="7002022" y="2566242"/>
            <a:ext cx="4453607" cy="928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b="1" kern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36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2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8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44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dirty="0"/>
              <a:t>Option für bereits normalisierte Daten</a:t>
            </a:r>
          </a:p>
          <a:p>
            <a:r>
              <a:rPr lang="de-DE" b="0" dirty="0"/>
              <a:t>Daten wurden extern vorverarbeitet</a:t>
            </a:r>
          </a:p>
          <a:p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2245473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84367-F4EF-E2AA-530A-957907D3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D0811A5-4ECD-167B-0553-0C2EFEDC4A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2575659"/>
            <a:ext cx="11063816" cy="2764092"/>
          </a:xfrm>
        </p:spPr>
        <p:txBody>
          <a:bodyPr>
            <a:normAutofit/>
          </a:bodyPr>
          <a:lstStyle/>
          <a:p>
            <a:r>
              <a:rPr lang="de-DE" b="0" dirty="0"/>
              <a:t>Keine Normalisierung</a:t>
            </a:r>
          </a:p>
          <a:p>
            <a:r>
              <a:rPr lang="de-DE" b="0" dirty="0"/>
              <a:t>Nur Logarithmieren</a:t>
            </a:r>
          </a:p>
          <a:p>
            <a:r>
              <a:rPr lang="de-DE" b="0" dirty="0"/>
              <a:t>Z-Score (mit/ohne Log)</a:t>
            </a:r>
          </a:p>
          <a:p>
            <a:r>
              <a:rPr lang="de-DE" b="0" dirty="0"/>
              <a:t>Median-Zentrierung (mit/ohne Log)</a:t>
            </a:r>
          </a:p>
          <a:p>
            <a:r>
              <a:rPr lang="de-DE" b="0" dirty="0"/>
              <a:t>MAD-Normalisierung (mit/ohne Log) 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F0A05B1-46E1-BFC8-AEAB-DA77DA62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Normalisierung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C8D4A5A5-01DE-FD48-9454-3ACAD8A65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2152328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de-DE" sz="1800" b="1" dirty="0"/>
              <a:t>Methoden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B7C6449F-F243-2D47-4D9C-C4F603F132C5}"/>
              </a:ext>
            </a:extLst>
          </p:cNvPr>
          <p:cNvSpPr/>
          <p:nvPr/>
        </p:nvSpPr>
        <p:spPr>
          <a:xfrm>
            <a:off x="3355674" y="3096883"/>
            <a:ext cx="3321170" cy="207033"/>
          </a:xfrm>
          <a:prstGeom prst="rightArrow">
            <a:avLst/>
          </a:prstGeom>
          <a:solidFill>
            <a:srgbClr val="C00000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DB3A36-B956-68FC-DB74-515C679880AD}"/>
              </a:ext>
            </a:extLst>
          </p:cNvPr>
          <p:cNvSpPr/>
          <p:nvPr/>
        </p:nvSpPr>
        <p:spPr>
          <a:xfrm>
            <a:off x="6849123" y="2705767"/>
            <a:ext cx="4606506" cy="1629874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BEBE5BD9-52A7-ED96-FD2A-98F2ACE97F9A}"/>
              </a:ext>
            </a:extLst>
          </p:cNvPr>
          <p:cNvSpPr txBox="1">
            <a:spLocks/>
          </p:cNvSpPr>
          <p:nvPr/>
        </p:nvSpPr>
        <p:spPr bwMode="auto">
          <a:xfrm>
            <a:off x="7002022" y="2752576"/>
            <a:ext cx="4453607" cy="158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b="1" kern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36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2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8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44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dirty="0"/>
              <a:t>Sinnvoll, wenn Wertekompression benötigt</a:t>
            </a:r>
          </a:p>
          <a:p>
            <a:r>
              <a:rPr lang="de-DE" b="0" dirty="0"/>
              <a:t>Ursprüngliche Datenstruktur möglichst unverändert sein soll</a:t>
            </a:r>
          </a:p>
          <a:p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264545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9791-BB1C-8689-1BDB-E21A2C3B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D9ECCA9-8880-42F4-4C50-EA9A3A3A906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4092" y="2575659"/>
            <a:ext cx="11063816" cy="2764092"/>
          </a:xfrm>
        </p:spPr>
        <p:txBody>
          <a:bodyPr>
            <a:normAutofit/>
          </a:bodyPr>
          <a:lstStyle/>
          <a:p>
            <a:r>
              <a:rPr lang="de-DE" b="0" dirty="0"/>
              <a:t>Keine Normalisierung</a:t>
            </a:r>
          </a:p>
          <a:p>
            <a:r>
              <a:rPr lang="de-DE" b="0" dirty="0"/>
              <a:t>Nur Logarithmieren</a:t>
            </a:r>
          </a:p>
          <a:p>
            <a:r>
              <a:rPr lang="de-DE" b="0" dirty="0"/>
              <a:t>Z-Score (mit/ohne Log)</a:t>
            </a:r>
          </a:p>
          <a:p>
            <a:r>
              <a:rPr lang="de-DE" b="0" dirty="0"/>
              <a:t>Median-Zentrierung (mit/ohne Log)</a:t>
            </a:r>
          </a:p>
          <a:p>
            <a:r>
              <a:rPr lang="de-DE" b="0" dirty="0"/>
              <a:t>MAD-Normalisierung (mit/ohne Log) 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858F19D-3C03-2701-09A7-CD5E42EE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Normalisierung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A3782AE3-3AE3-D3DE-6717-E1C44A26D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2152328"/>
            <a:ext cx="9753600" cy="342054"/>
          </a:xfrm>
        </p:spPr>
        <p:txBody>
          <a:bodyPr>
            <a:normAutofit lnSpcReduction="10000"/>
          </a:bodyPr>
          <a:lstStyle/>
          <a:p>
            <a:r>
              <a:rPr lang="de-DE" sz="1800" b="1" dirty="0"/>
              <a:t>Methoden</a:t>
            </a:r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5722BA78-D22E-229E-54CE-F1064B42D266}"/>
              </a:ext>
            </a:extLst>
          </p:cNvPr>
          <p:cNvSpPr/>
          <p:nvPr/>
        </p:nvSpPr>
        <p:spPr>
          <a:xfrm>
            <a:off x="4842336" y="3429000"/>
            <a:ext cx="928736" cy="1229263"/>
          </a:xfrm>
          <a:prstGeom prst="rightBrace">
            <a:avLst>
              <a:gd name="adj1" fmla="val 8333"/>
              <a:gd name="adj2" fmla="val 48597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FBBA170-D141-09C3-6337-61B9EA613DF0}"/>
              </a:ext>
            </a:extLst>
          </p:cNvPr>
          <p:cNvSpPr/>
          <p:nvPr/>
        </p:nvSpPr>
        <p:spPr>
          <a:xfrm>
            <a:off x="6849123" y="3243724"/>
            <a:ext cx="4606506" cy="1681959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platzhalter 1">
            <a:extLst>
              <a:ext uri="{FF2B5EF4-FFF2-40B4-BE49-F238E27FC236}">
                <a16:creationId xmlns:a16="http://schemas.microsoft.com/office/drawing/2014/main" id="{A5FCBEA1-E81B-9F8A-8047-51F490929F3D}"/>
              </a:ext>
            </a:extLst>
          </p:cNvPr>
          <p:cNvSpPr txBox="1">
            <a:spLocks/>
          </p:cNvSpPr>
          <p:nvPr/>
        </p:nvSpPr>
        <p:spPr bwMode="auto">
          <a:xfrm>
            <a:off x="7019274" y="3296791"/>
            <a:ext cx="4537335" cy="1575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b="1" kern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36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72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8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440000" indent="360000" algn="l" defTabSz="457200" rtl="0" fontAlgn="base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Blip>
                <a:blip r:embed="rId2"/>
              </a:buBlip>
              <a:defRPr sz="1800" kern="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dirty="0"/>
              <a:t>Option ohne Log zu normalisieren</a:t>
            </a:r>
          </a:p>
          <a:p>
            <a:r>
              <a:rPr lang="de-DE" b="0" dirty="0"/>
              <a:t>Für bereits logarithmierte Datensätze</a:t>
            </a:r>
          </a:p>
          <a:p>
            <a:r>
              <a:rPr lang="de-DE" b="0" dirty="0"/>
              <a:t>Erhalt ursprünglicher Werteverteilung     wichtig</a:t>
            </a:r>
          </a:p>
        </p:txBody>
      </p:sp>
    </p:spTree>
    <p:extLst>
      <p:ext uri="{BB962C8B-B14F-4D97-AF65-F5344CB8AC3E}">
        <p14:creationId xmlns:p14="http://schemas.microsoft.com/office/powerpoint/2010/main" val="340428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ADC2-DC6A-2D9E-031C-615561EF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C274B08-7DC3-27FE-A96F-41E900A62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Normalisierung</a:t>
            </a:r>
            <a:endParaRPr lang="de-DE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D2B0A21C-D247-2228-B9A0-FB80B9F89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34400"/>
            <a:ext cx="9753600" cy="342054"/>
          </a:xfrm>
        </p:spPr>
        <p:txBody>
          <a:bodyPr/>
          <a:lstStyle/>
          <a:p>
            <a:r>
              <a:rPr lang="de-DE" dirty="0"/>
              <a:t>Beispiel - </a:t>
            </a:r>
            <a:r>
              <a:rPr lang="de-DE" dirty="0" err="1"/>
              <a:t>Logarithmierung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744E78E-A48D-D426-B70F-23EDB816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7654" y="1582131"/>
            <a:ext cx="5299874" cy="4869069"/>
          </a:xfrm>
        </p:spPr>
        <p:txBody>
          <a:bodyPr/>
          <a:lstStyle/>
          <a:p>
            <a:pPr indent="0">
              <a:buNone/>
            </a:pPr>
            <a:r>
              <a:rPr lang="de-DE" dirty="0"/>
              <a:t>Was passiert?</a:t>
            </a:r>
          </a:p>
          <a:p>
            <a:r>
              <a:rPr lang="de-DE" b="0" dirty="0"/>
              <a:t>Kleine Werte werden kaum beeinflusst</a:t>
            </a:r>
          </a:p>
          <a:p>
            <a:r>
              <a:rPr lang="de-DE" b="0" dirty="0"/>
              <a:t>Große Expressionswerte stark abgeschwächt</a:t>
            </a:r>
          </a:p>
          <a:p>
            <a:r>
              <a:rPr lang="de-DE" b="0" dirty="0"/>
              <a:t>Absolute Unterschiede bleiben erhalten</a:t>
            </a:r>
          </a:p>
          <a:p>
            <a:r>
              <a:rPr lang="de-DE" b="0" dirty="0"/>
              <a:t>Insgesamt eine Wertekompression</a:t>
            </a:r>
          </a:p>
          <a:p>
            <a:r>
              <a:rPr lang="de-DE" b="0" dirty="0"/>
              <a:t>Verschiebung verringern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r>
              <a:rPr lang="de-DE" dirty="0"/>
              <a:t>Was ist der Nutzen?</a:t>
            </a:r>
          </a:p>
          <a:p>
            <a:r>
              <a:rPr lang="de-DE" b="0" dirty="0"/>
              <a:t>Führt zu stärkerer Symmetrie</a:t>
            </a:r>
          </a:p>
          <a:p>
            <a:r>
              <a:rPr lang="de-DE" b="0" dirty="0"/>
              <a:t>Nähert Daten an Normalverteilung an</a:t>
            </a:r>
          </a:p>
          <a:p>
            <a:endParaRPr lang="de-DE" b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AA7CB80-BDF4-E39F-5BFB-2B1C124A2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528" y="1865258"/>
            <a:ext cx="6148200" cy="374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15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0788-D118-61B7-F717-DB76E554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158FA7A-DBFE-338B-0BB7-B1FB3E75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Normalisierung</a:t>
            </a:r>
            <a:endParaRPr lang="de-DE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BFF6C738-240F-FA4E-C17D-80A991D53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34400"/>
            <a:ext cx="9753600" cy="342054"/>
          </a:xfrm>
        </p:spPr>
        <p:txBody>
          <a:bodyPr/>
          <a:lstStyle/>
          <a:p>
            <a:r>
              <a:rPr lang="de-DE" dirty="0"/>
              <a:t>Beispiel - </a:t>
            </a:r>
            <a:r>
              <a:rPr lang="de-DE" dirty="0" err="1"/>
              <a:t>Zscore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7F922E2-D8AA-BF85-709B-8A053559C3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7654" y="1582131"/>
            <a:ext cx="5299874" cy="4869069"/>
          </a:xfrm>
        </p:spPr>
        <p:txBody>
          <a:bodyPr/>
          <a:lstStyle/>
          <a:p>
            <a:pPr indent="0">
              <a:buNone/>
            </a:pPr>
            <a:r>
              <a:rPr lang="de-DE" dirty="0"/>
              <a:t>Was passiert?</a:t>
            </a:r>
          </a:p>
          <a:p>
            <a:r>
              <a:rPr lang="de-DE" b="0" dirty="0"/>
              <a:t>Jedes Gen wird skaliert damit sein </a:t>
            </a:r>
          </a:p>
          <a:p>
            <a:pPr indent="0">
              <a:buNone/>
            </a:pPr>
            <a:r>
              <a:rPr lang="de-DE" b="0" dirty="0"/>
              <a:t>Mittelwert = 0 und Standardabweichen = 1 ist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r>
              <a:rPr lang="de-DE" dirty="0"/>
              <a:t>Was ist der Nutzen?</a:t>
            </a:r>
          </a:p>
          <a:p>
            <a:r>
              <a:rPr lang="de-DE" b="0" dirty="0"/>
              <a:t>Alle Gene werden auf dieselbe Skala gebracht</a:t>
            </a:r>
          </a:p>
          <a:p>
            <a:r>
              <a:rPr lang="de-DE" b="0" dirty="0"/>
              <a:t>Verbessert Vergleichbarkeit</a:t>
            </a:r>
          </a:p>
          <a:p>
            <a:r>
              <a:rPr lang="de-DE" b="0" dirty="0"/>
              <a:t>Erkennung von Ausreißer</a:t>
            </a:r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85451BF-8754-0F1E-6BFD-AC6DA288D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528" y="1693241"/>
            <a:ext cx="6148200" cy="374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990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2A785-B466-6748-CEB4-29F3DA98B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1CDE3B0-A9C5-7E38-476A-1FDC3F31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Normalisierung</a:t>
            </a:r>
            <a:endParaRPr lang="de-DE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B58FF591-A07E-D95E-21B6-DBDF44618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34400"/>
            <a:ext cx="9753600" cy="342054"/>
          </a:xfrm>
        </p:spPr>
        <p:txBody>
          <a:bodyPr/>
          <a:lstStyle/>
          <a:p>
            <a:r>
              <a:rPr lang="de-DE" dirty="0"/>
              <a:t>Beispiel - </a:t>
            </a:r>
            <a:r>
              <a:rPr lang="de-DE" dirty="0" err="1"/>
              <a:t>Zscore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EB0D6F6-5C46-5C83-F73D-8CCB225DFC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7654" y="1582131"/>
            <a:ext cx="5299874" cy="4869069"/>
          </a:xfrm>
        </p:spPr>
        <p:txBody>
          <a:bodyPr/>
          <a:lstStyle/>
          <a:p>
            <a:pPr indent="0">
              <a:buNone/>
            </a:pPr>
            <a:r>
              <a:rPr lang="de-DE" dirty="0"/>
              <a:t>Was passiert?</a:t>
            </a:r>
          </a:p>
          <a:p>
            <a:r>
              <a:rPr lang="de-DE" b="0" dirty="0"/>
              <a:t>Jedes Gen wird skaliert damit sein </a:t>
            </a:r>
          </a:p>
          <a:p>
            <a:pPr indent="0">
              <a:buNone/>
            </a:pPr>
            <a:r>
              <a:rPr lang="de-DE" b="0" dirty="0"/>
              <a:t>Mittelwert = 0 und Standardabweichen = 1 ist</a:t>
            </a:r>
          </a:p>
          <a:p>
            <a:pPr indent="0">
              <a:buNone/>
            </a:pPr>
            <a:endParaRPr lang="de-DE" b="0" dirty="0"/>
          </a:p>
          <a:p>
            <a:pPr indent="0">
              <a:buNone/>
            </a:pPr>
            <a:r>
              <a:rPr lang="de-DE" dirty="0"/>
              <a:t>Was ist der Nutzen?</a:t>
            </a:r>
          </a:p>
          <a:p>
            <a:r>
              <a:rPr lang="de-DE" b="0" dirty="0"/>
              <a:t>Alle Gene werden auf dieselbe Skala gebracht</a:t>
            </a:r>
          </a:p>
          <a:p>
            <a:r>
              <a:rPr lang="de-DE" b="0" dirty="0"/>
              <a:t>Verbessert Vergleichbarkeit</a:t>
            </a:r>
          </a:p>
          <a:p>
            <a:r>
              <a:rPr lang="de-DE" b="0" dirty="0"/>
              <a:t>Erkennung von Ausreißer</a:t>
            </a:r>
          </a:p>
          <a:p>
            <a:pPr indent="0">
              <a:buNone/>
            </a:pPr>
            <a:endParaRPr lang="de-DE" b="0" dirty="0"/>
          </a:p>
          <a:p>
            <a:endParaRPr lang="de-DE" b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A8705D-1055-9F18-AAFC-90D1CC5DC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223" y="1819990"/>
            <a:ext cx="6148200" cy="374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40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5021-C332-92FD-8407-6D27D177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F4287A5-96AA-B4EB-8D01-B88BB82B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Normalisierung</a:t>
            </a:r>
            <a:endParaRPr lang="de-DE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A3DECAE2-F38A-1762-DEDE-3EFCFA3BF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600" y="734400"/>
            <a:ext cx="9753600" cy="342054"/>
          </a:xfrm>
        </p:spPr>
        <p:txBody>
          <a:bodyPr/>
          <a:lstStyle/>
          <a:p>
            <a:r>
              <a:rPr lang="de-DE" dirty="0"/>
              <a:t>Beispiel - Gesamtverlauf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2268E99-DE1D-E748-8E77-98B1C5654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34" y="1087093"/>
            <a:ext cx="11046292" cy="567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33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19A87-2C8A-F2C3-5C2A-B4974FB9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FEE9C2A-4416-F4E2-84C2-90A98F5A7F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b="0" dirty="0"/>
              <a:t>Vorlage</a:t>
            </a:r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13FE2BA-6938-0640-1637-EE74F4B1E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Vorlage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8ED6F735-D172-F616-4E46-19FAC82ED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Vorlage</a:t>
            </a:r>
          </a:p>
        </p:txBody>
      </p:sp>
    </p:spTree>
    <p:extLst>
      <p:ext uri="{BB962C8B-B14F-4D97-AF65-F5344CB8AC3E}">
        <p14:creationId xmlns:p14="http://schemas.microsoft.com/office/powerpoint/2010/main" val="246737597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8A1B42C8-6EEC-445B-A900-F154598C64A4}"/>
    </a:ext>
  </a:extLst>
</a:theme>
</file>

<file path=ppt/theme/theme2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64CF7779-663E-47E0-BCB9-5091361682A2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4ZPPNAQV5EQV-6530471-237</_dlc_DocId>
    <_dlc_DocIdUrl xmlns="bfb11438-62cb-48e0-8e08-adb7b8077717">
      <Url>https://mythi.de/_layouts/15/DocIdRedir.aspx?ID=4ZPPNAQV5EQV-6530471-237</Url>
      <Description>4ZPPNAQV5EQV-6530471-237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e80b2ca2b93bd808485b2d451bc603f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6bdf8fd81a7b586dd79b811828187a67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Fakultätsfarben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E7C72F-ED79-494F-A7ED-1F0FF5B91F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0C7402-FDBD-4B5F-A7A1-6AD2340559B8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5B5802FD-0FE5-40B9-964E-26CF6C896D54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3ea1445a-e6f2-4b21-90f1-4e4a5aca6572"/>
    <ds:schemaRef ds:uri="http://schemas.microsoft.com/office/infopath/2007/PartnerControls"/>
    <ds:schemaRef ds:uri="bb6f2568-2a10-4a56-89e3-032448edb678"/>
    <ds:schemaRef ds:uri="bfb11438-62cb-48e0-8e08-adb7b8077717"/>
    <ds:schemaRef ds:uri="http://schemas.microsoft.com/office/2006/metadata/properties"/>
  </ds:schemaRefs>
</ds:datastoreItem>
</file>

<file path=customXml/itemProps4.xml><?xml version="1.0" encoding="utf-8"?>
<ds:datastoreItem xmlns:ds="http://schemas.openxmlformats.org/officeDocument/2006/customXml" ds:itemID="{7C111C41-FBCC-4433-B45C-C3FBA6F15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Random_Forests</Template>
  <TotalTime>0</TotalTime>
  <Words>361</Words>
  <Application>Microsoft Office PowerPoint</Application>
  <PresentationFormat>Breitbild</PresentationFormat>
  <Paragraphs>106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2_Office</vt:lpstr>
      <vt:lpstr>1_Bildschirm</vt:lpstr>
      <vt:lpstr>PowerPoint-Präsentation</vt:lpstr>
      <vt:lpstr>Datenvorbereitung</vt:lpstr>
      <vt:lpstr>Datenvorbereitung</vt:lpstr>
      <vt:lpstr>Normalisierung</vt:lpstr>
      <vt:lpstr>Normalisierung</vt:lpstr>
      <vt:lpstr>Normalisierung</vt:lpstr>
      <vt:lpstr>Normalisierung</vt:lpstr>
      <vt:lpstr>Normalisierung</vt:lpstr>
      <vt:lpstr>Normalisierung</vt:lpstr>
      <vt:lpstr>Normalisierung</vt:lpstr>
      <vt:lpstr>Normalisierung</vt:lpstr>
      <vt:lpstr>Normalisierung</vt:lpstr>
      <vt:lpstr>Normalisierung</vt:lpstr>
      <vt:lpstr>Vorlage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Wiki Cholewa</dc:creator>
  <cp:lastModifiedBy>Rosina Röckseisen</cp:lastModifiedBy>
  <cp:revision>46</cp:revision>
  <cp:lastPrinted>2018-04-09T18:27:12Z</cp:lastPrinted>
  <dcterms:created xsi:type="dcterms:W3CDTF">2024-05-27T14:56:43Z</dcterms:created>
  <dcterms:modified xsi:type="dcterms:W3CDTF">2026-07-15T17:17:29Z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01d87115-5e35-40f8-a10e-6019eecf87d0</vt:lpwstr>
  </property>
</Properties>
</file>