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5"/>
    <p:sldMasterId id="2147483668" r:id="rId6"/>
  </p:sldMasterIdLst>
  <p:notesMasterIdLst>
    <p:notesMasterId r:id="rId13"/>
  </p:notesMasterIdLst>
  <p:sldIdLst>
    <p:sldId id="256" r:id="rId7"/>
    <p:sldId id="283" r:id="rId8"/>
    <p:sldId id="284" r:id="rId9"/>
    <p:sldId id="285" r:id="rId10"/>
    <p:sldId id="286" r:id="rId11"/>
    <p:sldId id="290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ktoria Cholewa" initials="WC" lastIdx="2" clrIdx="0">
    <p:extLst>
      <p:ext uri="{19B8F6BF-5375-455C-9EA6-DF929625EA0E}">
        <p15:presenceInfo xmlns:p15="http://schemas.microsoft.com/office/powerpoint/2012/main" userId="a7e065584b631d0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9C28"/>
    <a:srgbClr val="0008FF"/>
    <a:srgbClr val="FFFFFF"/>
    <a:srgbClr val="B28015"/>
    <a:srgbClr val="D7D700"/>
    <a:srgbClr val="575756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1" autoAdjust="0"/>
    <p:restoredTop sz="85369"/>
  </p:normalViewPr>
  <p:slideViewPr>
    <p:cSldViewPr snapToGrid="0" showGuides="1">
      <p:cViewPr>
        <p:scale>
          <a:sx n="69" d="100"/>
          <a:sy n="69" d="100"/>
        </p:scale>
        <p:origin x="975" y="17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39E342-F6A9-4F29-9B27-B9C233E73F2C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6CFAF-25DC-4335-BB6F-0DF8AAA92C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255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6CFAF-25DC-4335-BB6F-0DF8AAA92CE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6427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955220B0-981B-4B91-8046-7C7E0856AB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3372107"/>
            <a:ext cx="5368925" cy="165477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r">
              <a:lnSpc>
                <a:spcPct val="80000"/>
              </a:lnSpc>
              <a:buNone/>
              <a:defRPr sz="3600" i="1">
                <a:solidFill>
                  <a:srgbClr val="00599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Titel durch Klicken bearbeiten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DFEA872E-0143-412F-8A3E-399C96D85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21725" y="6231025"/>
            <a:ext cx="2743200" cy="36512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600">
                <a:solidFill>
                  <a:srgbClr val="00599C"/>
                </a:solidFill>
              </a:defRPr>
            </a:lvl1pPr>
          </a:lstStyle>
          <a:p>
            <a:fld id="{09E3C423-5E7A-4DDD-B38B-F27554E0DE8A}" type="datetime1">
              <a:rPr lang="de-DE" smtClean="0"/>
              <a:t>15.07.2026</a:t>
            </a:fld>
            <a:endParaRPr lang="de-DE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9ABBF9E-483A-49E3-B63F-F34D49842C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5160963"/>
            <a:ext cx="5368925" cy="5524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FontTx/>
              <a:buNone/>
              <a:defRPr sz="1600" b="1" i="1" baseline="0">
                <a:solidFill>
                  <a:srgbClr val="575756"/>
                </a:solidFill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Untertitel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94525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092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31">
          <p15:clr>
            <a:srgbClr val="FBAE40"/>
          </p15:clr>
        </p15:guide>
        <p15:guide id="4" orient="horz" pos="4085">
          <p15:clr>
            <a:srgbClr val="FBAE40"/>
          </p15:clr>
        </p15:guide>
        <p15:guide id="5" pos="234">
          <p15:clr>
            <a:srgbClr val="FBAE40"/>
          </p15:clr>
        </p15:guide>
        <p15:guide id="6" pos="7222">
          <p15:clr>
            <a:srgbClr val="FBAE40"/>
          </p15:clr>
        </p15:guide>
        <p15:guide id="7" orient="horz" pos="325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5"/>
          <p:cNvSpPr>
            <a:spLocks noGrp="1"/>
          </p:cNvSpPr>
          <p:nvPr>
            <p:ph type="body" sz="quarter" idx="19"/>
          </p:nvPr>
        </p:nvSpPr>
        <p:spPr>
          <a:xfrm>
            <a:off x="632884" y="1766888"/>
            <a:ext cx="11063816" cy="4741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8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8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8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8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8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0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9E765-94CE-0941-BE99-F43834E80C33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436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Foliennummernplatzhalt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8FB2E-9454-CC40-B155-B924620EFC86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566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Foliennummernplatzhalt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8FB2E-9454-CC40-B155-B924620EFC86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62248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3" y="1770964"/>
            <a:ext cx="11064000" cy="47404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kern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15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A07125-F287-674A-B4D8-FED3251FDE20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3675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3" y="1770960"/>
            <a:ext cx="11064000" cy="10643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20" name="Textplatzhalter 15"/>
          <p:cNvSpPr>
            <a:spLocks noGrp="1"/>
          </p:cNvSpPr>
          <p:nvPr>
            <p:ph type="body" sz="quarter" idx="19"/>
          </p:nvPr>
        </p:nvSpPr>
        <p:spPr>
          <a:xfrm>
            <a:off x="632884" y="2978941"/>
            <a:ext cx="11063816" cy="3528000"/>
          </a:xfrm>
          <a:prstGeom prst="rect">
            <a:avLst/>
          </a:prstGeom>
        </p:spPr>
        <p:txBody>
          <a:bodyPr/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5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6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4D81EC-8C31-054F-B717-4ACEB33BE349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45916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5"/>
          <p:cNvSpPr>
            <a:spLocks noGrp="1"/>
          </p:cNvSpPr>
          <p:nvPr>
            <p:ph type="body" sz="quarter" idx="19"/>
          </p:nvPr>
        </p:nvSpPr>
        <p:spPr>
          <a:xfrm>
            <a:off x="632884" y="1766888"/>
            <a:ext cx="11063816" cy="4741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8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8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8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8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8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0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20"/>
          </p:nvPr>
        </p:nvSpPr>
        <p:spPr>
          <a:xfrm>
            <a:off x="393699" y="6627813"/>
            <a:ext cx="239185" cy="20796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E9E765-94CE-0941-BE99-F43834E80C33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100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3604" y="1767840"/>
            <a:ext cx="11055617" cy="47412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 dirty="0"/>
          </a:p>
        </p:txBody>
      </p:sp>
      <p:sp>
        <p:nvSpPr>
          <p:cNvPr id="14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A4BB87-D65B-B741-90D0-3BFE1FF2D190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1989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8" y="1770964"/>
            <a:ext cx="5402103" cy="47404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kern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Foliennummernplatzhalter 10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549947-ECEE-CD4E-8E00-25DB9EFCD1C0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670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0" name="Bildplatzhalter 13"/>
          <p:cNvSpPr>
            <a:spLocks noGrp="1"/>
          </p:cNvSpPr>
          <p:nvPr>
            <p:ph type="pic" sz="quarter" idx="18"/>
          </p:nvPr>
        </p:nvSpPr>
        <p:spPr>
          <a:xfrm>
            <a:off x="632368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9"/>
          </p:nvPr>
        </p:nvSpPr>
        <p:spPr>
          <a:xfrm>
            <a:off x="632369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C90C2B-DDFC-DE4D-9708-9CA1E81D3CA7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58514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.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8" name="Textplatzhalter 15"/>
          <p:cNvSpPr>
            <a:spLocks noGrp="1"/>
          </p:cNvSpPr>
          <p:nvPr>
            <p:ph type="body" sz="quarter" idx="20"/>
          </p:nvPr>
        </p:nvSpPr>
        <p:spPr>
          <a:xfrm>
            <a:off x="632884" y="1771655"/>
            <a:ext cx="5401253" cy="4739759"/>
          </a:xfrm>
          <a:prstGeom prst="rect">
            <a:avLst/>
          </a:prstGeom>
        </p:spPr>
        <p:txBody>
          <a:bodyPr/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9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2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oliennummernplatzhalt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5DF636-10E3-C843-BAEB-4F17E52BCE01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0628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Aufz.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8" y="1770960"/>
            <a:ext cx="5402103" cy="16099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23" name="Textplatzhalter 15"/>
          <p:cNvSpPr>
            <a:spLocks noGrp="1"/>
          </p:cNvSpPr>
          <p:nvPr>
            <p:ph type="body" sz="quarter" idx="20"/>
          </p:nvPr>
        </p:nvSpPr>
        <p:spPr>
          <a:xfrm>
            <a:off x="632884" y="3541926"/>
            <a:ext cx="5401253" cy="2969489"/>
          </a:xfrm>
          <a:prstGeom prst="rect">
            <a:avLst/>
          </a:prstGeom>
        </p:spPr>
        <p:txBody>
          <a:bodyPr/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6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Foliennummernplatzhalt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5EDBF-F42E-4A47-ACDB-0E72DDFC05E8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62015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955220B0-981B-4B91-8046-7C7E0856AB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3372107"/>
            <a:ext cx="5368925" cy="165477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r">
              <a:lnSpc>
                <a:spcPct val="80000"/>
              </a:lnSpc>
              <a:buNone/>
              <a:defRPr sz="3600" i="1">
                <a:solidFill>
                  <a:srgbClr val="00599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Titel durch Klicken bearbeiten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DFEA872E-0143-412F-8A3E-399C96D85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21725" y="6231025"/>
            <a:ext cx="2743200" cy="36512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600">
                <a:solidFill>
                  <a:srgbClr val="00599C"/>
                </a:solidFill>
              </a:defRPr>
            </a:lvl1pPr>
          </a:lstStyle>
          <a:p>
            <a:fld id="{B21705E7-C58B-41C1-85E5-D48DB982E5E7}" type="datetime1">
              <a:rPr lang="de-DE" smtClean="0"/>
              <a:t>15.07.2026</a:t>
            </a:fld>
            <a:endParaRPr lang="de-DE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9ABBF9E-483A-49E3-B63F-F34D49842C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5160963"/>
            <a:ext cx="5368925" cy="5524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FontTx/>
              <a:buNone/>
              <a:defRPr sz="1600" b="1" i="1" baseline="0">
                <a:solidFill>
                  <a:srgbClr val="575756"/>
                </a:solidFill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Untertitel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071224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092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31">
          <p15:clr>
            <a:srgbClr val="FBAE40"/>
          </p15:clr>
        </p15:guide>
        <p15:guide id="4" orient="horz" pos="4085">
          <p15:clr>
            <a:srgbClr val="FBAE40"/>
          </p15:clr>
        </p15:guide>
        <p15:guide id="5" pos="234">
          <p15:clr>
            <a:srgbClr val="FBAE40"/>
          </p15:clr>
        </p15:guide>
        <p15:guide id="6" pos="7222">
          <p15:clr>
            <a:srgbClr val="FBAE40"/>
          </p15:clr>
        </p15:guide>
        <p15:guide id="7" orient="horz" pos="325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5.emf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image" Target="../media/image4.emf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5798B34-4A25-40A0-900B-1450FBA630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8" b="7798"/>
          <a:stretch/>
        </p:blipFill>
        <p:spPr>
          <a:xfrm>
            <a:off x="4175" y="0"/>
            <a:ext cx="12187825" cy="6858000"/>
          </a:xfrm>
          <a:prstGeom prst="rect">
            <a:avLst/>
          </a:prstGeom>
        </p:spPr>
      </p:pic>
      <p:pic>
        <p:nvPicPr>
          <p:cNvPr id="6" name="Grafik 13">
            <a:extLst>
              <a:ext uri="{FF2B5EF4-FFF2-40B4-BE49-F238E27FC236}">
                <a16:creationId xmlns:a16="http://schemas.microsoft.com/office/drawing/2014/main" id="{DDBD8EDB-F6BF-46C2-A48B-112205C0E36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295" y="0"/>
            <a:ext cx="7034705" cy="68580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76DA9497-EC4F-483C-BC2B-4763B264BE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56716" y="720001"/>
            <a:ext cx="2770887" cy="142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342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i="1" kern="1200" baseline="0">
          <a:solidFill>
            <a:srgbClr val="00599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31">
          <p15:clr>
            <a:srgbClr val="F26B43"/>
          </p15:clr>
        </p15:guide>
        <p15:guide id="4" orient="horz" pos="4088">
          <p15:clr>
            <a:srgbClr val="F26B43"/>
          </p15:clr>
        </p15:guide>
        <p15:guide id="5" pos="7222">
          <p15:clr>
            <a:srgbClr val="F26B43"/>
          </p15:clr>
        </p15:guide>
        <p15:guide id="6" pos="23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8"/>
          <p:cNvSpPr txBox="1">
            <a:spLocks/>
          </p:cNvSpPr>
          <p:nvPr/>
        </p:nvSpPr>
        <p:spPr>
          <a:xfrm>
            <a:off x="504825" y="6583363"/>
            <a:ext cx="1096963" cy="207962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457200" rtl="0" eaLnBrk="1" latinLnBrk="0" hangingPunct="1">
              <a:defRPr sz="800" kern="1200">
                <a:solidFill>
                  <a:srgbClr val="005A9B"/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dirty="0"/>
          </a:p>
        </p:txBody>
      </p:sp>
      <p:sp>
        <p:nvSpPr>
          <p:cNvPr id="2052" name="Titelplatzhalter 16"/>
          <p:cNvSpPr>
            <a:spLocks noGrp="1"/>
          </p:cNvSpPr>
          <p:nvPr>
            <p:ph type="title"/>
          </p:nvPr>
        </p:nvSpPr>
        <p:spPr bwMode="auto">
          <a:xfrm>
            <a:off x="393700" y="406400"/>
            <a:ext cx="9753600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2053" name="Textplatzhalter 17"/>
          <p:cNvSpPr>
            <a:spLocks noGrp="1"/>
          </p:cNvSpPr>
          <p:nvPr>
            <p:ph type="body" idx="1"/>
          </p:nvPr>
        </p:nvSpPr>
        <p:spPr bwMode="auto">
          <a:xfrm>
            <a:off x="633413" y="1766888"/>
            <a:ext cx="11064875" cy="474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0" name="Foliennummernplatzhalter 10"/>
          <p:cNvSpPr>
            <a:spLocks noGrp="1"/>
          </p:cNvSpPr>
          <p:nvPr>
            <p:ph type="sldNum" sz="quarter" idx="4"/>
          </p:nvPr>
        </p:nvSpPr>
        <p:spPr>
          <a:xfrm>
            <a:off x="393700" y="6627813"/>
            <a:ext cx="255588" cy="20796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800" baseline="0" smtClean="0">
                <a:solidFill>
                  <a:srgbClr val="005A9B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fld id="{F4603CEF-B396-964A-9571-AA9A38748142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056" name="Textfeld 13"/>
          <p:cNvSpPr txBox="1">
            <a:spLocks noChangeArrowheads="1"/>
          </p:cNvSpPr>
          <p:nvPr userDrawn="1"/>
        </p:nvSpPr>
        <p:spPr bwMode="auto">
          <a:xfrm>
            <a:off x="633413" y="6627813"/>
            <a:ext cx="8224837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-DE" sz="800" dirty="0"/>
              <a:t> Technische Hochschule Ingolstadt</a:t>
            </a:r>
          </a:p>
        </p:txBody>
      </p:sp>
      <p:pic>
        <p:nvPicPr>
          <p:cNvPr id="9" name="Bild 6"/>
          <p:cNvPicPr>
            <a:picLocks noChangeAspect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78" t="3003" b="83303"/>
          <a:stretch/>
        </p:blipFill>
        <p:spPr>
          <a:xfrm>
            <a:off x="10963703" y="101149"/>
            <a:ext cx="1062681" cy="939113"/>
          </a:xfrm>
          <a:prstGeom prst="rect">
            <a:avLst/>
          </a:prstGeom>
        </p:spPr>
      </p:pic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74C4E33B-49A6-4300-83A6-C76B1520ABA7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1" y="1584325"/>
            <a:ext cx="288925" cy="4997450"/>
          </a:xfrm>
          <a:custGeom>
            <a:avLst/>
            <a:gdLst>
              <a:gd name="connsiteX0" fmla="*/ 0 w 288925"/>
              <a:gd name="connsiteY0" fmla="*/ 0 h 4997450"/>
              <a:gd name="connsiteX1" fmla="*/ 72124 w 288925"/>
              <a:gd name="connsiteY1" fmla="*/ 0 h 4997450"/>
              <a:gd name="connsiteX2" fmla="*/ 288925 w 288925"/>
              <a:gd name="connsiteY2" fmla="*/ 216575 h 4997450"/>
              <a:gd name="connsiteX3" fmla="*/ 288925 w 288925"/>
              <a:gd name="connsiteY3" fmla="*/ 4961195 h 4997450"/>
              <a:gd name="connsiteX4" fmla="*/ 252632 w 288925"/>
              <a:gd name="connsiteY4" fmla="*/ 4997450 h 4997450"/>
              <a:gd name="connsiteX5" fmla="*/ 0 w 288925"/>
              <a:gd name="connsiteY5" fmla="*/ 4997450 h 4997450"/>
              <a:gd name="connsiteX6" fmla="*/ 0 w 288925"/>
              <a:gd name="connsiteY6" fmla="*/ 0 h 4997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8925" h="4997450">
                <a:moveTo>
                  <a:pt x="0" y="0"/>
                </a:moveTo>
                <a:lnTo>
                  <a:pt x="72124" y="0"/>
                </a:lnTo>
                <a:cubicBezTo>
                  <a:pt x="288925" y="0"/>
                  <a:pt x="288925" y="216575"/>
                  <a:pt x="288925" y="216575"/>
                </a:cubicBezTo>
                <a:lnTo>
                  <a:pt x="288925" y="4961195"/>
                </a:lnTo>
                <a:cubicBezTo>
                  <a:pt x="288925" y="4997450"/>
                  <a:pt x="252632" y="4997450"/>
                  <a:pt x="252632" y="4997450"/>
                </a:cubicBezTo>
                <a:lnTo>
                  <a:pt x="0" y="4997450"/>
                </a:lnTo>
                <a:lnTo>
                  <a:pt x="0" y="0"/>
                </a:lnTo>
                <a:close/>
              </a:path>
            </a:pathLst>
          </a:custGeom>
          <a:solidFill>
            <a:srgbClr val="D7D7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0B9A292F-0451-4569-B1A0-1D585F680152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0" y="0"/>
            <a:ext cx="438150" cy="6858000"/>
          </a:xfrm>
          <a:custGeom>
            <a:avLst/>
            <a:gdLst>
              <a:gd name="connsiteX0" fmla="*/ 0 w 438150"/>
              <a:gd name="connsiteY0" fmla="*/ 0 h 6858000"/>
              <a:gd name="connsiteX1" fmla="*/ 438150 w 438150"/>
              <a:gd name="connsiteY1" fmla="*/ 0 h 6858000"/>
              <a:gd name="connsiteX2" fmla="*/ 438150 w 438150"/>
              <a:gd name="connsiteY2" fmla="*/ 6858000 h 6858000"/>
              <a:gd name="connsiteX3" fmla="*/ 0 w 438150"/>
              <a:gd name="connsiteY3" fmla="*/ 6858000 h 6858000"/>
              <a:gd name="connsiteX4" fmla="*/ 0 w 438150"/>
              <a:gd name="connsiteY4" fmla="*/ 6581775 h 6858000"/>
              <a:gd name="connsiteX5" fmla="*/ 252632 w 438150"/>
              <a:gd name="connsiteY5" fmla="*/ 6581775 h 6858000"/>
              <a:gd name="connsiteX6" fmla="*/ 288925 w 438150"/>
              <a:gd name="connsiteY6" fmla="*/ 6545520 h 6858000"/>
              <a:gd name="connsiteX7" fmla="*/ 288925 w 438150"/>
              <a:gd name="connsiteY7" fmla="*/ 1800900 h 6858000"/>
              <a:gd name="connsiteX8" fmla="*/ 72124 w 438150"/>
              <a:gd name="connsiteY8" fmla="*/ 1584325 h 6858000"/>
              <a:gd name="connsiteX9" fmla="*/ 0 w 438150"/>
              <a:gd name="connsiteY9" fmla="*/ 1584325 h 6858000"/>
              <a:gd name="connsiteX10" fmla="*/ 0 w 43815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38150" h="6858000">
                <a:moveTo>
                  <a:pt x="0" y="0"/>
                </a:moveTo>
                <a:lnTo>
                  <a:pt x="438150" y="0"/>
                </a:lnTo>
                <a:lnTo>
                  <a:pt x="438150" y="6858000"/>
                </a:lnTo>
                <a:lnTo>
                  <a:pt x="0" y="6858000"/>
                </a:lnTo>
                <a:lnTo>
                  <a:pt x="0" y="6581775"/>
                </a:lnTo>
                <a:lnTo>
                  <a:pt x="252632" y="6581775"/>
                </a:lnTo>
                <a:cubicBezTo>
                  <a:pt x="252632" y="6581775"/>
                  <a:pt x="288925" y="6581775"/>
                  <a:pt x="288925" y="6545520"/>
                </a:cubicBezTo>
                <a:lnTo>
                  <a:pt x="288925" y="1800900"/>
                </a:lnTo>
                <a:cubicBezTo>
                  <a:pt x="288925" y="1800900"/>
                  <a:pt x="288925" y="1584325"/>
                  <a:pt x="72124" y="1584325"/>
                </a:cubicBezTo>
                <a:lnTo>
                  <a:pt x="0" y="158432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152EDF18-C2BE-4416-B697-E7527905AE10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-1717675" y="1584325"/>
            <a:ext cx="1717675" cy="4997450"/>
          </a:xfrm>
          <a:custGeom>
            <a:avLst/>
            <a:gdLst>
              <a:gd name="connsiteX0" fmla="*/ 36293 w 1717675"/>
              <a:gd name="connsiteY0" fmla="*/ 0 h 4997450"/>
              <a:gd name="connsiteX1" fmla="*/ 1717675 w 1717675"/>
              <a:gd name="connsiteY1" fmla="*/ 0 h 4997450"/>
              <a:gd name="connsiteX2" fmla="*/ 1717675 w 1717675"/>
              <a:gd name="connsiteY2" fmla="*/ 4997450 h 4997450"/>
              <a:gd name="connsiteX3" fmla="*/ 216801 w 1717675"/>
              <a:gd name="connsiteY3" fmla="*/ 4997450 h 4997450"/>
              <a:gd name="connsiteX4" fmla="*/ 0 w 1717675"/>
              <a:gd name="connsiteY4" fmla="*/ 4781829 h 4997450"/>
              <a:gd name="connsiteX5" fmla="*/ 0 w 1717675"/>
              <a:gd name="connsiteY5" fmla="*/ 36255 h 4997450"/>
              <a:gd name="connsiteX6" fmla="*/ 36293 w 1717675"/>
              <a:gd name="connsiteY6" fmla="*/ 0 h 4997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7675" h="4997450">
                <a:moveTo>
                  <a:pt x="36293" y="0"/>
                </a:moveTo>
                <a:lnTo>
                  <a:pt x="1717675" y="0"/>
                </a:lnTo>
                <a:lnTo>
                  <a:pt x="1717675" y="4997450"/>
                </a:lnTo>
                <a:lnTo>
                  <a:pt x="216801" y="4997450"/>
                </a:lnTo>
                <a:cubicBezTo>
                  <a:pt x="0" y="4997450"/>
                  <a:pt x="0" y="4781829"/>
                  <a:pt x="0" y="4781829"/>
                </a:cubicBezTo>
                <a:lnTo>
                  <a:pt x="0" y="36255"/>
                </a:lnTo>
                <a:cubicBezTo>
                  <a:pt x="0" y="0"/>
                  <a:pt x="36293" y="0"/>
                  <a:pt x="36293" y="0"/>
                </a:cubicBez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5726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86" r:id="rId10"/>
  </p:sldLayoutIdLst>
  <p:hf sldNum="0" hdr="0" ftr="0"/>
  <p:txStyles>
    <p:titleStyle>
      <a:lvl1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 b="1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358775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719138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079500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439863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tif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m 4">
            <a:extLst>
              <a:ext uri="{FF2B5EF4-FFF2-40B4-BE49-F238E27FC236}">
                <a16:creationId xmlns:a16="http://schemas.microsoft.com/office/drawing/2014/main" id="{A2A73B90-07A7-8E8B-CEBC-BEB95963B901}"/>
              </a:ext>
            </a:extLst>
          </p:cNvPr>
          <p:cNvSpPr/>
          <p:nvPr/>
        </p:nvSpPr>
        <p:spPr>
          <a:xfrm>
            <a:off x="6169511" y="0"/>
            <a:ext cx="7828155" cy="6858000"/>
          </a:xfrm>
          <a:prstGeom prst="parallelogram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Untertitel 1"/>
          <p:cNvSpPr>
            <a:spLocks noGrp="1"/>
          </p:cNvSpPr>
          <p:nvPr>
            <p:ph type="subTitle" idx="1"/>
          </p:nvPr>
        </p:nvSpPr>
        <p:spPr>
          <a:xfrm>
            <a:off x="6657459" y="3640433"/>
            <a:ext cx="5368925" cy="1002918"/>
          </a:xfrm>
        </p:spPr>
        <p:txBody>
          <a:bodyPr>
            <a:normAutofit/>
          </a:bodyPr>
          <a:lstStyle/>
          <a:p>
            <a:r>
              <a:rPr lang="de-DE" dirty="0" err="1"/>
              <a:t>ClusterIt</a:t>
            </a:r>
            <a:r>
              <a:rPr lang="de-DE" dirty="0"/>
              <a:t>!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0ED03-C43A-4599-9C3E-0C076A417A3C}" type="datetime1">
              <a:rPr lang="de-DE" smtClean="0"/>
              <a:t>15.07.2026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Unsere Namen</a:t>
            </a:r>
          </a:p>
        </p:txBody>
      </p:sp>
      <p:pic>
        <p:nvPicPr>
          <p:cNvPr id="6" name="Bild 6">
            <a:extLst>
              <a:ext uri="{FF2B5EF4-FFF2-40B4-BE49-F238E27FC236}">
                <a16:creationId xmlns:a16="http://schemas.microsoft.com/office/drawing/2014/main" id="{77C8A103-0E57-DFC5-7677-C86D76011D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78" t="3003" b="83303"/>
          <a:stretch/>
        </p:blipFill>
        <p:spPr>
          <a:xfrm>
            <a:off x="10963703" y="101149"/>
            <a:ext cx="1062681" cy="93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9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ADEA5FB-754A-B192-FBDF-33A5EEB5C5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884" y="1614488"/>
            <a:ext cx="11063816" cy="4741200"/>
          </a:xfrm>
        </p:spPr>
        <p:txBody>
          <a:bodyPr/>
          <a:lstStyle/>
          <a:p>
            <a:r>
              <a:rPr lang="de-DE" b="0" dirty="0"/>
              <a:t>Vorlage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1CF2CBD-C9A1-FB54-C44F-01C16708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Vorlage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FBBF561E-C32D-B6B3-CBA4-69B7D497FA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Vorlage</a:t>
            </a:r>
          </a:p>
        </p:txBody>
      </p:sp>
    </p:spTree>
    <p:extLst>
      <p:ext uri="{BB962C8B-B14F-4D97-AF65-F5344CB8AC3E}">
        <p14:creationId xmlns:p14="http://schemas.microsoft.com/office/powerpoint/2010/main" val="4127478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1DF5B-44B0-6DA4-665B-600E4EBD6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A399E9A2-4000-6D6A-467C-FB6DABD3CC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324" y="2233015"/>
            <a:ext cx="5485263" cy="3085460"/>
          </a:xfrm>
          <a:prstGeom prst="rect">
            <a:avLst/>
          </a:prstGeom>
          <a:noFill/>
        </p:spPr>
      </p:pic>
      <p:sp>
        <p:nvSpPr>
          <p:cNvPr id="2" name="Textplatzhalter 1">
            <a:extLst>
              <a:ext uri="{FF2B5EF4-FFF2-40B4-BE49-F238E27FC236}">
                <a16:creationId xmlns:a16="http://schemas.microsoft.com/office/drawing/2014/main" id="{F4546264-93D6-060B-0DAD-42F70D8CA2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2884" y="1771655"/>
            <a:ext cx="5463116" cy="4739759"/>
          </a:xfrm>
        </p:spPr>
        <p:txBody>
          <a:bodyPr wrap="square" anchor="t">
            <a:normAutofit/>
          </a:bodyPr>
          <a:lstStyle/>
          <a:p>
            <a:r>
              <a:rPr lang="de-DE" sz="1800" b="0" dirty="0"/>
              <a:t>Transkriptionsfaktoren entscheiden, ob und wie stark ein Gen abgelesen wird</a:t>
            </a:r>
          </a:p>
          <a:p>
            <a:r>
              <a:rPr lang="de-DE" sz="1800" b="0" dirty="0"/>
              <a:t>Feinjustierung auf mehreren Ebenen (post-transkriptionell, translational, posttranslational)</a:t>
            </a:r>
          </a:p>
          <a:p>
            <a:r>
              <a:rPr lang="de-DE" sz="1800" b="0" dirty="0"/>
              <a:t>Messung via RNA-</a:t>
            </a:r>
            <a:r>
              <a:rPr lang="de-DE" sz="1800" b="0" dirty="0" err="1"/>
              <a:t>Seq</a:t>
            </a:r>
            <a:r>
              <a:rPr lang="de-DE" sz="1800" b="0" dirty="0"/>
              <a:t> </a:t>
            </a:r>
            <a:br>
              <a:rPr lang="de-DE" sz="1800" b="0" dirty="0"/>
            </a:br>
            <a:r>
              <a:rPr lang="de-DE" sz="1800" b="0" dirty="0">
                <a:sym typeface="Wingdings" panose="05000000000000000000" pitchFamily="2" charset="2"/>
              </a:rPr>
              <a:t></a:t>
            </a:r>
            <a:r>
              <a:rPr lang="de-DE" sz="1800" b="0" dirty="0"/>
              <a:t> Count-Matrix (Gene    Proben)</a:t>
            </a:r>
          </a:p>
          <a:p>
            <a:r>
              <a:rPr lang="de-DE" sz="1800" b="0" dirty="0"/>
              <a:t>Unterschiedliche </a:t>
            </a:r>
            <a:r>
              <a:rPr lang="de-DE" sz="1800" b="0" dirty="0" err="1"/>
              <a:t>Sequenziertiefen</a:t>
            </a:r>
            <a:r>
              <a:rPr lang="de-DE" sz="1800" b="0" dirty="0"/>
              <a:t> </a:t>
            </a:r>
            <a:br>
              <a:rPr lang="de-DE" sz="1800" b="0" dirty="0"/>
            </a:br>
            <a:r>
              <a:rPr lang="de-DE" sz="1800" b="0" dirty="0">
                <a:sym typeface="Wingdings" panose="05000000000000000000" pitchFamily="2" charset="2"/>
              </a:rPr>
              <a:t></a:t>
            </a:r>
            <a:r>
              <a:rPr lang="de-DE" sz="1800" b="0" dirty="0"/>
              <a:t> Normalisierung</a:t>
            </a:r>
          </a:p>
          <a:p>
            <a:r>
              <a:rPr lang="de-DE" sz="1800" b="0" dirty="0"/>
              <a:t>Genexpression asynchron </a:t>
            </a:r>
            <a:br>
              <a:rPr lang="de-DE" sz="1800" b="0" dirty="0"/>
            </a:br>
            <a:r>
              <a:rPr lang="de-DE" sz="1800" b="0" dirty="0">
                <a:sym typeface="Wingdings" panose="05000000000000000000" pitchFamily="2" charset="2"/>
              </a:rPr>
              <a:t></a:t>
            </a:r>
            <a:r>
              <a:rPr lang="de-DE" sz="1800" b="0" dirty="0"/>
              <a:t> Messungen sind Momentaufnahme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7A15AFE-478A-5192-7E9E-5101B75E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</p:spPr>
        <p:txBody>
          <a:bodyPr wrap="square" anchor="ctr">
            <a:normAutofit fontScale="90000"/>
          </a:bodyPr>
          <a:lstStyle/>
          <a:p>
            <a:pPr>
              <a:spcAft>
                <a:spcPts val="600"/>
              </a:spcAft>
            </a:pPr>
            <a:r>
              <a:rPr lang="de-DE" dirty="0"/>
              <a:t>Biologische Grundlagen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1E1317A0-CD29-D483-B3FA-BD0F79C3AC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de-DE" dirty="0"/>
              <a:t>Biologische Grundlagen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C07DAFB7-97C9-88C5-FC94-9C7C7DBC65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49324" y="5318475"/>
            <a:ext cx="5380801" cy="112766"/>
          </a:xfrm>
        </p:spPr>
        <p:txBody>
          <a:bodyPr/>
          <a:lstStyle/>
          <a:p>
            <a:r>
              <a:rPr lang="en-US" dirty="0"/>
              <a:t>https://studyflix.de/biologie/genexpression-2646</a:t>
            </a:r>
          </a:p>
        </p:txBody>
      </p:sp>
      <p:sp>
        <p:nvSpPr>
          <p:cNvPr id="10" name="Textplatzhalter 1">
            <a:extLst>
              <a:ext uri="{FF2B5EF4-FFF2-40B4-BE49-F238E27FC236}">
                <a16:creationId xmlns:a16="http://schemas.microsoft.com/office/drawing/2014/main" id="{2F3536B0-118A-2778-714B-3FC8B90F3941}"/>
              </a:ext>
            </a:extLst>
          </p:cNvPr>
          <p:cNvSpPr txBox="1">
            <a:spLocks/>
          </p:cNvSpPr>
          <p:nvPr/>
        </p:nvSpPr>
        <p:spPr bwMode="auto">
          <a:xfrm>
            <a:off x="6349324" y="1771655"/>
            <a:ext cx="5380801" cy="200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>
            <a:lvl1pPr marL="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4"/>
              </a:buBlip>
              <a:defRPr sz="1600" b="1" kern="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36000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4"/>
              </a:buBlip>
              <a:defRPr sz="1600" ker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72000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4"/>
              </a:buBlip>
              <a:defRPr sz="1600" ker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8000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4"/>
              </a:buBlip>
              <a:defRPr sz="1600" ker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44000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4"/>
              </a:buBlip>
              <a:defRPr sz="1600" ker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de-DE" b="0" dirty="0"/>
              <a:t>Zentrales Dogma: DNA </a:t>
            </a:r>
            <a:r>
              <a:rPr lang="de-DE" b="0" dirty="0">
                <a:sym typeface="Wingdings" panose="05000000000000000000" pitchFamily="2" charset="2"/>
              </a:rPr>
              <a:t></a:t>
            </a:r>
            <a:r>
              <a:rPr lang="de-DE" b="0" dirty="0"/>
              <a:t> RNA </a:t>
            </a:r>
            <a:r>
              <a:rPr lang="de-DE" b="0" dirty="0">
                <a:sym typeface="Wingdings" panose="05000000000000000000" pitchFamily="2" charset="2"/>
              </a:rPr>
              <a:t></a:t>
            </a:r>
            <a:r>
              <a:rPr lang="de-DE" b="0" dirty="0"/>
              <a:t> Protein</a:t>
            </a:r>
          </a:p>
        </p:txBody>
      </p:sp>
      <p:sp>
        <p:nvSpPr>
          <p:cNvPr id="5" name="Multiplikationszeichen 4">
            <a:extLst>
              <a:ext uri="{FF2B5EF4-FFF2-40B4-BE49-F238E27FC236}">
                <a16:creationId xmlns:a16="http://schemas.microsoft.com/office/drawing/2014/main" id="{386978BD-CF83-CAE5-96B5-C8A4609E31DA}"/>
              </a:ext>
            </a:extLst>
          </p:cNvPr>
          <p:cNvSpPr/>
          <p:nvPr/>
        </p:nvSpPr>
        <p:spPr>
          <a:xfrm>
            <a:off x="2972854" y="3963734"/>
            <a:ext cx="177800" cy="177800"/>
          </a:xfrm>
          <a:prstGeom prst="mathMultiply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7870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00D6C-D1C1-BCC2-7F9A-8128B1715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1CC94F0-143B-CDF3-0B75-E274D40E6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Medizinische Grundlagen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81EAB222-FBEC-D892-1490-F6817FFBD9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Medizinische Grundlagen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672484B-4478-B6E2-DFFE-B283C7E05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417" y="1854650"/>
            <a:ext cx="5634325" cy="3496803"/>
          </a:xfrm>
          <a:prstGeom prst="rect">
            <a:avLst/>
          </a:prstGeom>
        </p:spPr>
      </p:pic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CD6DD5C-E482-DC6D-730B-B3AD2B63238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884" y="1766888"/>
            <a:ext cx="5463116" cy="4741200"/>
          </a:xfrm>
        </p:spPr>
        <p:txBody>
          <a:bodyPr>
            <a:normAutofit/>
          </a:bodyPr>
          <a:lstStyle/>
          <a:p>
            <a:r>
              <a:rPr lang="de-DE" b="0" dirty="0"/>
              <a:t>Polygentische biologische Prozesse</a:t>
            </a:r>
          </a:p>
          <a:p>
            <a:r>
              <a:rPr lang="de-DE" b="0" dirty="0" err="1"/>
              <a:t>Pathways</a:t>
            </a:r>
            <a:r>
              <a:rPr lang="de-DE" b="0" dirty="0"/>
              <a:t>: funktional zusammengehörige Gene </a:t>
            </a:r>
          </a:p>
          <a:p>
            <a:r>
              <a:rPr lang="de-DE" b="0" dirty="0"/>
              <a:t>KEGG: Referenzdatenbank von </a:t>
            </a:r>
            <a:r>
              <a:rPr lang="de-DE" b="0" dirty="0" err="1"/>
              <a:t>Pathways</a:t>
            </a:r>
            <a:endParaRPr lang="de-DE" b="0" dirty="0"/>
          </a:p>
          <a:p>
            <a:r>
              <a:rPr lang="de-DE" b="0" dirty="0"/>
              <a:t>Molekulares Tumorboard: interdisziplinäres Ärztegremium zur Erarbeitung von individual Therapien</a:t>
            </a:r>
          </a:p>
          <a:p>
            <a:r>
              <a:rPr lang="de-DE" b="0" dirty="0"/>
              <a:t>Clinical </a:t>
            </a:r>
            <a:r>
              <a:rPr lang="de-DE" b="0" dirty="0" err="1"/>
              <a:t>Decision</a:t>
            </a:r>
            <a:r>
              <a:rPr lang="de-DE" b="0" dirty="0"/>
              <a:t> Support System als gemeinsame Diskussionsgrundlage</a:t>
            </a:r>
          </a:p>
        </p:txBody>
      </p:sp>
    </p:spTree>
    <p:extLst>
      <p:ext uri="{BB962C8B-B14F-4D97-AF65-F5344CB8AC3E}">
        <p14:creationId xmlns:p14="http://schemas.microsoft.com/office/powerpoint/2010/main" val="382828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EF34D-73C8-BD97-F42E-DEFBC8596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E846223-3346-2B21-40AA-108A0AC3682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884" y="1614488"/>
            <a:ext cx="5463116" cy="4741200"/>
          </a:xfrm>
        </p:spPr>
        <p:txBody>
          <a:bodyPr>
            <a:normAutofit/>
          </a:bodyPr>
          <a:lstStyle/>
          <a:p>
            <a:r>
              <a:rPr lang="de-DE" b="0" dirty="0"/>
              <a:t>Ziel: fehlerfreie Interpretierbarkeit, Barrierefreiheit, visuelle Neutralität </a:t>
            </a:r>
          </a:p>
          <a:p>
            <a:r>
              <a:rPr lang="de-DE" b="0" dirty="0"/>
              <a:t>Extrempunkte einer Skala müssen gleich intensiv wirken, sonst verzerrte Gewichtung </a:t>
            </a:r>
          </a:p>
          <a:p>
            <a:r>
              <a:rPr lang="de-DE" b="0" dirty="0"/>
              <a:t>Berücksichtigung von Rot-Grün-Sehschwäche</a:t>
            </a:r>
          </a:p>
          <a:p>
            <a:r>
              <a:rPr lang="de-DE" b="0" dirty="0"/>
              <a:t>GUI bewusst neutral gehalten (Grau/Weiß/Beige)</a:t>
            </a:r>
          </a:p>
          <a:p>
            <a:r>
              <a:rPr lang="de-DE" b="0" dirty="0"/>
              <a:t>RGB für Bildschirm</a:t>
            </a:r>
          </a:p>
          <a:p>
            <a:r>
              <a:rPr lang="de-DE" b="0" dirty="0" err="1"/>
              <a:t>Heatmap</a:t>
            </a:r>
            <a:r>
              <a:rPr lang="de-DE" b="0" dirty="0"/>
              <a:t> </a:t>
            </a:r>
            <a:r>
              <a:rPr lang="de-DE" b="0" dirty="0">
                <a:sym typeface="Wingdings" panose="05000000000000000000" pitchFamily="2" charset="2"/>
              </a:rPr>
              <a:t></a:t>
            </a:r>
            <a:r>
              <a:rPr lang="de-DE" b="0" dirty="0"/>
              <a:t> kontinuierliche Farbskala</a:t>
            </a:r>
          </a:p>
          <a:p>
            <a:pPr indent="0">
              <a:buNone/>
            </a:pPr>
            <a:endParaRPr lang="de-DE" b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FD7057D-5424-1BB8-8DCC-E9492A4CE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Farben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050DC138-9672-FFFF-ECC1-AE58695807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Allgemein und </a:t>
            </a:r>
            <a:r>
              <a:rPr lang="de-DE" dirty="0" err="1"/>
              <a:t>Heatmap</a:t>
            </a: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866BA25-82E2-0CC9-7988-D4E651110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273" y="1733888"/>
            <a:ext cx="5386654" cy="325892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C7FE2A9-5BCD-3443-4835-F492347956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28"/>
          <a:stretch>
            <a:fillRect/>
          </a:stretch>
        </p:blipFill>
        <p:spPr>
          <a:xfrm>
            <a:off x="7918450" y="3811322"/>
            <a:ext cx="3333723" cy="225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774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073A0-F100-65FA-C164-8C954968B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C3C701B-0B35-69CC-0480-EDAF4FC82E3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884" y="1614488"/>
            <a:ext cx="5463116" cy="4741200"/>
          </a:xfrm>
        </p:spPr>
        <p:txBody>
          <a:bodyPr/>
          <a:lstStyle/>
          <a:p>
            <a:r>
              <a:rPr lang="de-DE" b="0" dirty="0"/>
              <a:t>Dendrogramm </a:t>
            </a:r>
            <a:r>
              <a:rPr lang="de-DE" b="0" dirty="0">
                <a:sym typeface="Wingdings" panose="05000000000000000000" pitchFamily="2" charset="2"/>
              </a:rPr>
              <a:t> </a:t>
            </a:r>
            <a:r>
              <a:rPr lang="de-DE" b="0" dirty="0"/>
              <a:t>diskrete Farben</a:t>
            </a:r>
          </a:p>
          <a:p>
            <a:r>
              <a:rPr lang="de-DE" b="0" dirty="0"/>
              <a:t>Größte Herausforderung: dünne Linien </a:t>
            </a:r>
            <a:br>
              <a:rPr lang="de-DE" b="0" dirty="0"/>
            </a:br>
            <a:r>
              <a:rPr lang="de-DE" b="0" dirty="0">
                <a:sym typeface="Wingdings" panose="05000000000000000000" pitchFamily="2" charset="2"/>
              </a:rPr>
              <a:t> </a:t>
            </a:r>
            <a:r>
              <a:rPr lang="de-DE" b="0" dirty="0"/>
              <a:t>helle Mitteltöne ausgegrenzt</a:t>
            </a:r>
          </a:p>
          <a:p>
            <a:r>
              <a:rPr lang="de-DE" b="0" dirty="0"/>
              <a:t>mehr als 9 unterschiedliche Labels </a:t>
            </a:r>
            <a:br>
              <a:rPr lang="de-DE" b="0" dirty="0"/>
            </a:br>
            <a:r>
              <a:rPr lang="de-DE" b="0" dirty="0">
                <a:sym typeface="Wingdings" panose="05000000000000000000" pitchFamily="2" charset="2"/>
              </a:rPr>
              <a:t> </a:t>
            </a:r>
            <a:r>
              <a:rPr lang="de-DE" b="0" dirty="0"/>
              <a:t>eigener 20-Farben-Vektor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2FBD8EC-4C8B-20BF-7499-4766F118C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Farben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CDB51B5A-0AC1-E7C3-1285-F2AE80DEED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Dendrogramm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055B548-6ECF-214A-7EC2-F7796CDD8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231" y="5191230"/>
            <a:ext cx="5238062" cy="111668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13D0FB02-83F5-A2D8-BC9E-113F0D5AAC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841"/>
          <a:stretch>
            <a:fillRect/>
          </a:stretch>
        </p:blipFill>
        <p:spPr>
          <a:xfrm>
            <a:off x="6398231" y="1789770"/>
            <a:ext cx="5238062" cy="327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1171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 Präsentation Template I_16_9 [Schreibgeschützt]" id="{6E1FC12C-E241-4EA9-B509-58D9ECC47C6E}" vid="{8A1B42C8-6EEC-445B-A900-F154598C64A4}"/>
    </a:ext>
  </a:extLst>
</a:theme>
</file>

<file path=ppt/theme/theme2.xml><?xml version="1.0" encoding="utf-8"?>
<a:theme xmlns:a="http://schemas.openxmlformats.org/drawingml/2006/main" name="1_Bildschirm">
  <a:themeElements>
    <a:clrScheme name="THI Farbschema">
      <a:dk1>
        <a:srgbClr val="005A9B"/>
      </a:dk1>
      <a:lt1>
        <a:sysClr val="window" lastClr="FFFFFF"/>
      </a:lt1>
      <a:dk2>
        <a:srgbClr val="000000"/>
      </a:dk2>
      <a:lt2>
        <a:srgbClr val="FFFFFF"/>
      </a:lt2>
      <a:accent1>
        <a:srgbClr val="005A9B"/>
      </a:accent1>
      <a:accent2>
        <a:srgbClr val="007382"/>
      </a:accent2>
      <a:accent3>
        <a:srgbClr val="009BCD"/>
      </a:accent3>
      <a:accent4>
        <a:srgbClr val="96BE00"/>
      </a:accent4>
      <a:accent5>
        <a:srgbClr val="009664"/>
      </a:accent5>
      <a:accent6>
        <a:srgbClr val="E6320F"/>
      </a:accent6>
      <a:hlink>
        <a:srgbClr val="005A9B"/>
      </a:hlink>
      <a:folHlink>
        <a:srgbClr val="009BCD"/>
      </a:folHlink>
    </a:clrScheme>
    <a:fontScheme name="Office Klassisch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I Präsentation Template I_16_9 [Schreibgeschützt]" id="{6E1FC12C-E241-4EA9-B509-58D9ECC47C6E}" vid="{64CF7779-663E-47E0-BCB9-5091361682A2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ategorie xmlns="3ea1445a-e6f2-4b21-90f1-4e4a5aca6572">Vorlagen Präsentationen 16:9</Kategorie>
    <_dlc_DocId xmlns="bfb11438-62cb-48e0-8e08-adb7b8077717">4ZPPNAQV5EQV-6530471-237</_dlc_DocId>
    <_dlc_DocIdUrl xmlns="bfb11438-62cb-48e0-8e08-adb7b8077717">
      <Url>https://mythi.de/_layouts/15/DocIdRedir.aspx?ID=4ZPPNAQV5EQV-6530471-237</Url>
      <Description>4ZPPNAQV5EQV-6530471-237</Description>
    </_dlc_DocIdUrl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8AB19A0A86D2148BE9E8CA48E53677F" ma:contentTypeVersion="2" ma:contentTypeDescription="Ein neues Dokument erstellen." ma:contentTypeScope="" ma:versionID="1e80b2ca2b93bd808485b2d451bc603f">
  <xsd:schema xmlns:xsd="http://www.w3.org/2001/XMLSchema" xmlns:xs="http://www.w3.org/2001/XMLSchema" xmlns:p="http://schemas.microsoft.com/office/2006/metadata/properties" xmlns:ns2="bfb11438-62cb-48e0-8e08-adb7b8077717" xmlns:ns3="3ea1445a-e6f2-4b21-90f1-4e4a5aca6572" xmlns:ns4="bb6f2568-2a10-4a56-89e3-032448edb678" targetNamespace="http://schemas.microsoft.com/office/2006/metadata/properties" ma:root="true" ma:fieldsID="6bdf8fd81a7b586dd79b811828187a67" ns2:_="" ns3:_="" ns4:_="">
    <xsd:import namespace="bfb11438-62cb-48e0-8e08-adb7b8077717"/>
    <xsd:import namespace="3ea1445a-e6f2-4b21-90f1-4e4a5aca6572"/>
    <xsd:import namespace="bb6f2568-2a10-4a56-89e3-032448edb678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Kategorie"/>
                <xsd:element ref="ns4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b11438-62cb-48e0-8e08-adb7b8077717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a1445a-e6f2-4b21-90f1-4e4a5aca6572" elementFormDefault="qualified">
    <xsd:import namespace="http://schemas.microsoft.com/office/2006/documentManagement/types"/>
    <xsd:import namespace="http://schemas.microsoft.com/office/infopath/2007/PartnerControls"/>
    <xsd:element name="Kategorie" ma:index="11" ma:displayName="Kategorie" ma:default="NEU" ma:format="Dropdown" ma:internalName="Kategorie">
      <xsd:simpleType>
        <xsd:restriction base="dms:Choice">
          <xsd:enumeration value="NEU"/>
          <xsd:enumeration value="Fakultätsfarben"/>
          <xsd:enumeration value="Vorlagen Briefe"/>
          <xsd:enumeration value="Lageplan"/>
          <xsd:enumeration value="Logos"/>
          <xsd:enumeration value="Vorlagen Präsentationen 4:3"/>
          <xsd:enumeration value="Vorlagen Präsentationen 16:9"/>
          <xsd:enumeration value="Plakate"/>
          <xsd:enumeration value="Leitfäden"/>
          <xsd:enumeration value="TH Intern"/>
          <xsd:enumeration value="Hochschulpräsentationen"/>
          <xsd:enumeration value="Webhandbuch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6f2568-2a10-4a56-89e3-032448edb67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Freigegeben für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5802FD-0FE5-40B9-964E-26CF6C896D54}">
  <ds:schemaRefs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elements/1.1/"/>
    <ds:schemaRef ds:uri="3ea1445a-e6f2-4b21-90f1-4e4a5aca6572"/>
    <ds:schemaRef ds:uri="http://schemas.microsoft.com/office/infopath/2007/PartnerControls"/>
    <ds:schemaRef ds:uri="bb6f2568-2a10-4a56-89e3-032448edb678"/>
    <ds:schemaRef ds:uri="bfb11438-62cb-48e0-8e08-adb7b8077717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90C7402-FDBD-4B5F-A7A1-6AD2340559B8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ACE7C72F-ED79-494F-A7ED-1F0FF5B91FF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7C111C41-FBCC-4433-B45C-C3FBA6F156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b11438-62cb-48e0-8e08-adb7b8077717"/>
    <ds:schemaRef ds:uri="3ea1445a-e6f2-4b21-90f1-4e4a5aca6572"/>
    <ds:schemaRef ds:uri="bb6f2568-2a10-4a56-89e3-032448edb6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Random_Forests</Template>
  <TotalTime>0</TotalTime>
  <Words>178</Words>
  <Application>Microsoft Office PowerPoint</Application>
  <PresentationFormat>Breitbild</PresentationFormat>
  <Paragraphs>36</Paragraphs>
  <Slides>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Arial</vt:lpstr>
      <vt:lpstr>Calibri</vt:lpstr>
      <vt:lpstr>Wingdings</vt:lpstr>
      <vt:lpstr>2_Office</vt:lpstr>
      <vt:lpstr>1_Bildschirm</vt:lpstr>
      <vt:lpstr>PowerPoint-Präsentation</vt:lpstr>
      <vt:lpstr>Vorlage</vt:lpstr>
      <vt:lpstr>Biologische Grundlagen</vt:lpstr>
      <vt:lpstr>Medizinische Grundlagen</vt:lpstr>
      <vt:lpstr>Farben</vt:lpstr>
      <vt:lpstr>Farben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Wiki Cholewa</dc:creator>
  <cp:lastModifiedBy>Johanna Kleidorfer</cp:lastModifiedBy>
  <cp:revision>48</cp:revision>
  <cp:lastPrinted>2018-04-09T18:27:12Z</cp:lastPrinted>
  <dcterms:created xsi:type="dcterms:W3CDTF">2024-05-27T14:56:43Z</dcterms:created>
  <dcterms:modified xsi:type="dcterms:W3CDTF">2026-07-15T19:02:36Z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0x01010078AB19A0A86D2148BE9E8CA48E53677F</vt:lpwstr>
  </property>
  <property fmtid="{D5CDD505-2E9C-101B-9397-08002B2CF9AE}" pid="3" name="_dlc_DocIdItemGuid">
    <vt:lpwstr>01d87115-5e35-40f8-a10e-6019eecf87d0</vt:lpwstr>
  </property>
</Properties>
</file>